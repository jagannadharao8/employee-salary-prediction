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88" r:id="rId2"/>
    <p:sldId id="256" r:id="rId3"/>
    <p:sldId id="313" r:id="rId4"/>
    <p:sldId id="314" r:id="rId5"/>
    <p:sldId id="315" r:id="rId6"/>
    <p:sldId id="316" r:id="rId7"/>
    <p:sldId id="317" r:id="rId8"/>
    <p:sldId id="318" r:id="rId9"/>
    <p:sldId id="319" r:id="rId10"/>
    <p:sldId id="320" r:id="rId11"/>
    <p:sldId id="321" r:id="rId12"/>
    <p:sldId id="322" r:id="rId13"/>
    <p:sldId id="328" r:id="rId14"/>
    <p:sldId id="326" r:id="rId15"/>
    <p:sldId id="329" r:id="rId16"/>
    <p:sldId id="327" r:id="rId17"/>
    <p:sldId id="330" r:id="rId18"/>
    <p:sldId id="331" r:id="rId19"/>
    <p:sldId id="27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9D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8746" autoAdjust="0"/>
  </p:normalViewPr>
  <p:slideViewPr>
    <p:cSldViewPr snapToGrid="0" showGuides="1">
      <p:cViewPr varScale="1">
        <p:scale>
          <a:sx n="62" d="100"/>
          <a:sy n="62" d="100"/>
        </p:scale>
        <p:origin x="804" y="44"/>
      </p:cViewPr>
      <p:guideLst>
        <p:guide orient="horz" pos="2136"/>
        <p:guide pos="3840"/>
      </p:guideLst>
    </p:cSldViewPr>
  </p:slideViewPr>
  <p:outlineViewPr>
    <p:cViewPr>
      <p:scale>
        <a:sx n="33" d="100"/>
        <a:sy n="33" d="100"/>
      </p:scale>
      <p:origin x="0" y="164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9917F3-9C09-4DEE-83FD-43EB17D67919}" type="datetimeFigureOut">
              <a:rPr lang="en-US" smtClean="0"/>
              <a:pPr/>
              <a:t>10/7/2025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BA038E-BC2E-4C01-9D13-4B0A936A4D9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BA038E-BC2E-4C01-9D13-4B0A936A4D9D}" type="slidenum">
              <a:rPr lang="en-US" smtClean="0"/>
              <a:pPr/>
              <a:t>12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BA038E-BC2E-4C01-9D13-4B0A936A4D9D}" type="slidenum">
              <a:rPr lang="en-US" smtClean="0"/>
              <a:pPr/>
              <a:t>13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BA038E-BC2E-4C01-9D13-4B0A936A4D9D}" type="slidenum">
              <a:rPr lang="en-US" smtClean="0"/>
              <a:pPr/>
              <a:t>14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BA038E-BC2E-4C01-9D13-4B0A936A4D9D}" type="slidenum">
              <a:rPr lang="en-US" smtClean="0"/>
              <a:pPr/>
              <a:t>15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BA038E-BC2E-4C01-9D13-4B0A936A4D9D}" type="slidenum">
              <a:rPr lang="en-US" smtClean="0"/>
              <a:pPr/>
              <a:t>16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BBA038E-BC2E-4C01-9D13-4B0A936A4D9D}" type="slidenum">
              <a:rPr lang="en-US" smtClean="0"/>
              <a:pPr/>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ED231CE0-77C6-45F6-8880-A22E752FB2B9}" type="datetimeFigureOut">
              <a:rPr lang="en-US" smtClean="0"/>
              <a:pPr/>
              <a:t>10/7/2025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DE3BB922-8B6A-4689-9C11-04763035920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D231CE0-77C6-45F6-8880-A22E752FB2B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D231CE0-77C6-45F6-8880-A22E752FB2B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3BB922-8B6A-4689-9C11-04763035920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D231CE0-77C6-45F6-8880-A22E752FB2B9}" type="datetimeFigureOut">
              <a:rPr lang="en-US" smtClean="0"/>
              <a:pPr/>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D231CE0-77C6-45F6-8880-A22E752FB2B9}" type="datetimeFigureOut">
              <a:rPr lang="en-US" smtClean="0"/>
              <a:pPr/>
              <a:t>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ED231CE0-77C6-45F6-8880-A22E752FB2B9}" type="datetimeFigureOut">
              <a:rPr lang="en-US" smtClean="0"/>
              <a:pPr/>
              <a:t>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231CE0-77C6-45F6-8880-A22E752FB2B9}" type="datetimeFigureOut">
              <a:rPr lang="en-US" smtClean="0"/>
              <a:pPr/>
              <a:t>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D231CE0-77C6-45F6-8880-A22E752FB2B9}" type="datetimeFigureOut">
              <a:rPr lang="en-US" smtClean="0"/>
              <a:pPr/>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D231CE0-77C6-45F6-8880-A22E752FB2B9}" type="datetimeFigureOut">
              <a:rPr lang="en-US" smtClean="0"/>
              <a:pPr/>
              <a:t>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69600" y="6356351"/>
            <a:ext cx="812800" cy="365125"/>
          </a:xfrm>
        </p:spPr>
        <p:txBody>
          <a:bodyPr/>
          <a:lstStyle/>
          <a:p>
            <a:fld id="{DE3BB922-8B6A-4689-9C11-04763035920D}" type="slidenum">
              <a:rPr lang="en-US" smtClean="0"/>
              <a:pPr/>
              <a:t>‹#›</a:t>
            </a:fld>
            <a:endParaRPr lang="en-US"/>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D231CE0-77C6-45F6-8880-A22E752FB2B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D231CE0-77C6-45F6-8880-A22E752FB2B9}" type="datetimeFigureOut">
              <a:rPr lang="en-US" smtClean="0"/>
              <a:pPr/>
              <a:t>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3BB922-8B6A-4689-9C11-04763035920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ED231CE0-77C6-45F6-8880-A22E752FB2B9}" type="datetimeFigureOut">
              <a:rPr lang="en-US" smtClean="0"/>
              <a:pPr/>
              <a:t>10/7/2025</a:t>
            </a:fld>
            <a:endParaRPr lang="en-US"/>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E3BB922-8B6A-4689-9C11-04763035920D}" type="slidenum">
              <a:rPr lang="en-US" smtClean="0"/>
              <a:pPr/>
              <a:t>‹#›</a:t>
            </a:fld>
            <a:endParaRPr lang="en-US"/>
          </a:p>
        </p:txBody>
      </p:sp>
      <p:grpSp>
        <p:nvGrpSpPr>
          <p:cNvPr id="2" name="Group 1"/>
          <p:cNvGrpSpPr/>
          <p:nvPr/>
        </p:nvGrpSpPr>
        <p:grpSpPr>
          <a:xfrm>
            <a:off x="-25356" y="202408"/>
            <a:ext cx="12240731"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8.jpeg"/><Relationship Id="rId4" Type="http://schemas.openxmlformats.org/officeDocument/2006/relationships/image" Target="../media/image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30910" y="671830"/>
            <a:ext cx="10287000" cy="2402840"/>
          </a:xfrm>
          <a:prstGeom prst="rect">
            <a:avLst/>
          </a:prstGeom>
          <a:noFill/>
        </p:spPr>
        <p:txBody>
          <a:bodyPr wrap="square" rtlCol="0">
            <a:no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RAGHU ENGINEERING COLLEGE</a:t>
            </a:r>
          </a:p>
          <a:p>
            <a:pPr algn="ctr"/>
            <a:r>
              <a:rPr lang="en-US" sz="4000" b="1" dirty="0">
                <a:latin typeface="Times New Roman" panose="02020603050405020304" pitchFamily="18" charset="0"/>
                <a:cs typeface="Times New Roman" panose="02020603050405020304" pitchFamily="18" charset="0"/>
              </a:rPr>
              <a:t>(Autonomous)</a:t>
            </a:r>
          </a:p>
          <a:p>
            <a:pPr algn="ctr"/>
            <a:r>
              <a:rPr lang="en-US" sz="2000" b="1" dirty="0">
                <a:latin typeface="Times New Roman" panose="02020603050405020304" pitchFamily="18" charset="0"/>
                <a:cs typeface="Times New Roman" panose="02020603050405020304" pitchFamily="18" charset="0"/>
              </a:rPr>
              <a:t>Affiliated to JNTU GURAJADA, VIZIANAGARAM</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Approved by AICTE, Accredited by NBA, Accredited by NAAC with A+ Grade</a:t>
            </a:r>
          </a:p>
          <a:p>
            <a:pPr algn="ctr"/>
            <a:endParaRPr lang="en-US" sz="40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algn="ctr"/>
            <a:endParaRPr lang="en-US" sz="40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algn="ctr"/>
            <a:endParaRPr lang="en-US" sz="3200" b="1" dirty="0">
              <a:solidFill>
                <a:schemeClr val="tx1">
                  <a:lumMod val="75000"/>
                  <a:lumOff val="25000"/>
                </a:schemeClr>
              </a:solidFill>
              <a:latin typeface="Times New Roman" panose="02020603050405020304" pitchFamily="18" charset="0"/>
              <a:cs typeface="Times New Roman" panose="02020603050405020304" pitchFamily="18" charset="0"/>
            </a:endParaRPr>
          </a:p>
          <a:p>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5" name="Picture 2" descr="C:\Users\harsh\Desktop\download (2).jpegdownload (2)"/>
          <p:cNvPicPr>
            <a:picLocks noChangeAspect="1" noChangeArrowheads="1"/>
          </p:cNvPicPr>
          <p:nvPr/>
        </p:nvPicPr>
        <p:blipFill>
          <a:blip r:embed="rId2"/>
          <a:srcRect t="6153" b="2246"/>
          <a:stretch>
            <a:fillRect/>
          </a:stretch>
        </p:blipFill>
        <p:spPr bwMode="auto">
          <a:xfrm>
            <a:off x="5158740" y="2566670"/>
            <a:ext cx="1946910" cy="166624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484181" y="5198165"/>
            <a:ext cx="6096000" cy="1015663"/>
          </a:xfrm>
          <a:prstGeom prst="rect">
            <a:avLst/>
          </a:prstGeom>
        </p:spPr>
        <p:txBody>
          <a:bodyPr wrap="square">
            <a:spAutoFit/>
          </a:bodyPr>
          <a:lstStyle/>
          <a:p>
            <a:pPr algn="r"/>
            <a:r>
              <a:rPr lang="en-IN" altLang="en-US" sz="2400" b="1" dirty="0">
                <a:solidFill>
                  <a:srgbClr val="FF0000"/>
                </a:solidFill>
                <a:latin typeface="Times New Roman" panose="02020603050405020304" pitchFamily="18" charset="0"/>
                <a:cs typeface="Times New Roman" panose="02020603050405020304" pitchFamily="18" charset="0"/>
              </a:rPr>
              <a:t>Under the Esteemed Guidance Of</a:t>
            </a:r>
            <a:r>
              <a:rPr lang="en-US" altLang="en-US" sz="2400" b="1" dirty="0">
                <a:solidFill>
                  <a:srgbClr val="FF0000"/>
                </a:solidFill>
                <a:latin typeface="Times New Roman" panose="02020603050405020304" pitchFamily="18" charset="0"/>
                <a:cs typeface="Times New Roman" panose="02020603050405020304" pitchFamily="18" charset="0"/>
              </a:rPr>
              <a:t>:</a:t>
            </a:r>
            <a:endParaRPr lang="en-US" sz="2400" b="1" dirty="0">
              <a:solidFill>
                <a:srgbClr val="FF0000"/>
              </a:solidFill>
              <a:latin typeface="Times New Roman" panose="02020603050405020304" pitchFamily="18" charset="0"/>
              <a:cs typeface="Times New Roman" panose="02020603050405020304" pitchFamily="18" charset="0"/>
            </a:endParaRPr>
          </a:p>
          <a:p>
            <a:pPr lvl="3" algn="ctr"/>
            <a:r>
              <a:rPr lang="en-US" b="1" dirty="0">
                <a:latin typeface="Times New Roman" panose="02020603050405020304" pitchFamily="18" charset="0"/>
                <a:cs typeface="Times New Roman" panose="02020603050405020304" pitchFamily="18" charset="0"/>
                <a:sym typeface="+mn-ea"/>
              </a:rPr>
              <a:t>Mrs. D. R. S. Swetha</a:t>
            </a:r>
            <a:endParaRPr b="1" dirty="0">
              <a:latin typeface="Times New Roman" panose="02020603050405020304" pitchFamily="18" charset="0"/>
              <a:cs typeface="Times New Roman" panose="02020603050405020304" pitchFamily="18" charset="0"/>
              <a:sym typeface="+mn-ea"/>
            </a:endParaRPr>
          </a:p>
          <a:p>
            <a:pPr lvl="3" algn="ctr"/>
            <a:r>
              <a:rPr lang="en-IN" b="1" dirty="0">
                <a:latin typeface="Times New Roman" panose="02020603050405020304" pitchFamily="18" charset="0"/>
                <a:cs typeface="Times New Roman" panose="02020603050405020304" pitchFamily="18" charset="0"/>
                <a:sym typeface="+mn-ea"/>
              </a:rPr>
              <a:t>(</a:t>
            </a:r>
            <a:r>
              <a:rPr b="1" dirty="0">
                <a:latin typeface="Times New Roman" panose="02020603050405020304" pitchFamily="18" charset="0"/>
                <a:cs typeface="Times New Roman" panose="02020603050405020304" pitchFamily="18" charset="0"/>
                <a:sym typeface="+mn-ea"/>
              </a:rPr>
              <a:t>Ass</a:t>
            </a:r>
            <a:r>
              <a:rPr lang="en-US" b="1" dirty="0">
                <a:latin typeface="Times New Roman" panose="02020603050405020304" pitchFamily="18" charset="0"/>
                <a:cs typeface="Times New Roman" panose="02020603050405020304" pitchFamily="18" charset="0"/>
                <a:sym typeface="+mn-ea"/>
              </a:rPr>
              <a:t>istant</a:t>
            </a:r>
            <a:r>
              <a:rPr b="1" dirty="0">
                <a:latin typeface="Times New Roman" panose="02020603050405020304" pitchFamily="18" charset="0"/>
                <a:cs typeface="Times New Roman" panose="02020603050405020304" pitchFamily="18" charset="0"/>
                <a:sym typeface="+mn-ea"/>
              </a:rPr>
              <a:t> Professor</a:t>
            </a:r>
            <a:r>
              <a:rPr lang="en-IN" b="1" dirty="0">
                <a:latin typeface="Times New Roman" panose="02020603050405020304" pitchFamily="18" charset="0"/>
                <a:cs typeface="Times New Roman" panose="02020603050405020304" pitchFamily="18" charset="0"/>
                <a:sym typeface="+mn-ea"/>
              </a:rPr>
              <a:t>)</a:t>
            </a:r>
          </a:p>
        </p:txBody>
      </p:sp>
      <p:sp>
        <p:nvSpPr>
          <p:cNvPr id="4" name="Text Box 3"/>
          <p:cNvSpPr txBox="1"/>
          <p:nvPr/>
        </p:nvSpPr>
        <p:spPr>
          <a:xfrm>
            <a:off x="3048000" y="4232910"/>
            <a:ext cx="6096000" cy="730250"/>
          </a:xfrm>
          <a:prstGeom prst="rect">
            <a:avLst/>
          </a:prstGeom>
          <a:noFill/>
        </p:spPr>
        <p:txBody>
          <a:bodyPr wrap="square" rtlCol="0" anchor="t">
            <a:noAutofit/>
          </a:bodyPr>
          <a:lstStyle/>
          <a:p>
            <a:pPr algn="ctr"/>
            <a:r>
              <a:rPr lang="en-IN" altLang="en-US" sz="2200" b="1" dirty="0">
                <a:latin typeface="Times New Roman" panose="02020603050405020304" pitchFamily="18" charset="0"/>
                <a:cs typeface="Times New Roman" panose="02020603050405020304" pitchFamily="18" charset="0"/>
                <a:sym typeface="+mn-ea"/>
              </a:rPr>
              <a:t>CSE-AIML</a:t>
            </a:r>
            <a:endParaRPr lang="en-US" sz="2200" b="1" dirty="0">
              <a:latin typeface="Times New Roman" panose="02020603050405020304" pitchFamily="18" charset="0"/>
              <a:cs typeface="Times New Roman" panose="02020603050405020304" pitchFamily="18" charset="0"/>
              <a:sym typeface="+mn-ea"/>
            </a:endParaRPr>
          </a:p>
          <a:p>
            <a:pPr algn="ctr"/>
            <a:r>
              <a:rPr lang="en-US" sz="2200" b="1" dirty="0">
                <a:latin typeface="Times New Roman" panose="02020603050405020304" pitchFamily="18" charset="0"/>
                <a:cs typeface="Times New Roman" panose="02020603050405020304" pitchFamily="18" charset="0"/>
                <a:sym typeface="+mn-ea"/>
              </a:rPr>
              <a:t>202</a:t>
            </a:r>
            <a:r>
              <a:rPr lang="en-IN" sz="2200" b="1" dirty="0">
                <a:latin typeface="Times New Roman" panose="02020603050405020304" pitchFamily="18" charset="0"/>
                <a:cs typeface="Times New Roman" panose="02020603050405020304" pitchFamily="18" charset="0"/>
                <a:sym typeface="+mn-ea"/>
              </a:rPr>
              <a:t>2</a:t>
            </a:r>
            <a:r>
              <a:rPr lang="en-US" sz="2200" b="1" dirty="0">
                <a:latin typeface="Times New Roman" panose="02020603050405020304" pitchFamily="18" charset="0"/>
                <a:cs typeface="Times New Roman" panose="02020603050405020304" pitchFamily="18" charset="0"/>
                <a:sym typeface="+mn-ea"/>
              </a:rPr>
              <a:t>-2026</a:t>
            </a:r>
            <a:br>
              <a:rPr lang="en-US" b="1" dirty="0">
                <a:latin typeface="Times New Roman" panose="02020603050405020304" pitchFamily="18" charset="0"/>
                <a:cs typeface="Times New Roman" panose="02020603050405020304" pitchFamily="18" charset="0"/>
                <a:sym typeface="+mn-ea"/>
              </a:rPr>
            </a:br>
            <a:endParaRPr lang="en-US" b="1" dirty="0">
              <a:latin typeface="Times New Roman" panose="02020603050405020304" pitchFamily="18" charset="0"/>
              <a:cs typeface="Times New Roman" panose="02020603050405020304" pitchFamily="18" charset="0"/>
              <a:sym typeface="+mn-ea"/>
            </a:endParaRPr>
          </a:p>
        </p:txBody>
      </p:sp>
      <p:sp>
        <p:nvSpPr>
          <p:cNvPr id="10" name="Rectangle 9"/>
          <p:cNvSpPr/>
          <p:nvPr/>
        </p:nvSpPr>
        <p:spPr>
          <a:xfrm>
            <a:off x="7105650" y="5144135"/>
            <a:ext cx="3388995" cy="1569660"/>
          </a:xfrm>
          <a:prstGeom prst="rect">
            <a:avLst/>
          </a:prstGeom>
        </p:spPr>
        <p:txBody>
          <a:bodyPr wrap="square">
            <a:sp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Submitted By:</a:t>
            </a:r>
          </a:p>
          <a:p>
            <a:pPr algn="ctr"/>
            <a:r>
              <a:rPr lang="en-US" altLang="en-US" b="1" dirty="0">
                <a:latin typeface="Times New Roman" panose="02020603050405020304" pitchFamily="18" charset="0"/>
                <a:cs typeface="Times New Roman" panose="02020603050405020304" pitchFamily="18" charset="0"/>
                <a:sym typeface="+mn-ea"/>
              </a:rPr>
              <a:t>JALLA JAGANNADHA RAO</a:t>
            </a:r>
            <a:r>
              <a:rPr lang="en-IN" altLang="en-US" b="1" dirty="0">
                <a:latin typeface="Times New Roman" panose="02020603050405020304" pitchFamily="18" charset="0"/>
                <a:cs typeface="Times New Roman" panose="02020603050405020304" pitchFamily="18" charset="0"/>
                <a:sym typeface="+mn-ea"/>
              </a:rPr>
              <a:t> </a:t>
            </a:r>
          </a:p>
          <a:p>
            <a:pPr algn="ctr"/>
            <a:r>
              <a:rPr lang="en-US" b="1" dirty="0">
                <a:latin typeface="Times New Roman" panose="02020603050405020304" pitchFamily="18" charset="0"/>
                <a:cs typeface="Times New Roman" panose="02020603050405020304" pitchFamily="18" charset="0"/>
                <a:sym typeface="+mn-ea"/>
              </a:rPr>
              <a:t>23985A4204   </a:t>
            </a:r>
          </a:p>
          <a:p>
            <a:pPr algn="ctr"/>
            <a:r>
              <a:rPr lang="en-US" b="1" dirty="0">
                <a:latin typeface="Times New Roman" panose="02020603050405020304" pitchFamily="18" charset="0"/>
                <a:cs typeface="Times New Roman" panose="02020603050405020304" pitchFamily="18" charset="0"/>
                <a:sym typeface="+mn-ea"/>
              </a:rPr>
              <a:t>CSE(AIML)              </a:t>
            </a:r>
            <a:endParaRPr lang="en-US" b="1" dirty="0">
              <a:latin typeface="Times New Roman" panose="02020603050405020304" pitchFamily="18" charset="0"/>
              <a:cs typeface="Times New Roman" panose="02020603050405020304" pitchFamily="18" charset="0"/>
            </a:endParaRPr>
          </a:p>
          <a:p>
            <a:pPr lvl="1">
              <a:buNone/>
            </a:pPr>
            <a:endParaRPr lang="en-IN" alt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9735" y="1858616"/>
            <a:ext cx="11024235" cy="3419061"/>
          </a:xfrm>
          <a:prstGeom prst="rect">
            <a:avLst/>
          </a:prstGeom>
          <a:noFill/>
        </p:spPr>
        <p:txBody>
          <a:bodyPr wrap="square" rtlCol="0">
            <a:noAutofit/>
          </a:bodyPr>
          <a:lstStyle/>
          <a:p>
            <a:pPr algn="ctr"/>
            <a:endParaRPr lang="en-US" sz="4000" b="1" dirty="0">
              <a:solidFill>
                <a:srgbClr val="FF0000"/>
              </a:solidFill>
              <a:latin typeface="Times New Roman" panose="02020603050405020304" pitchFamily="18" charset="0"/>
              <a:cs typeface="Times New Roman" panose="02020603050405020304" pitchFamily="18" charset="0"/>
            </a:endParaRPr>
          </a:p>
          <a:p>
            <a:pPr algn="ctr"/>
            <a:r>
              <a:rPr lang="en-US" sz="4800" b="1" dirty="0">
                <a:solidFill>
                  <a:srgbClr val="FF0000"/>
                </a:solidFill>
                <a:latin typeface="Times New Roman" panose="02020603050405020304" pitchFamily="18" charset="0"/>
                <a:cs typeface="Times New Roman" panose="02020603050405020304" pitchFamily="18" charset="0"/>
              </a:rPr>
              <a:t>SKILL DZIRE</a:t>
            </a:r>
          </a:p>
          <a:p>
            <a:pPr algn="ctr"/>
            <a:r>
              <a:rPr lang="en-US" sz="4800" b="1" dirty="0">
                <a:solidFill>
                  <a:srgbClr val="FF0000"/>
                </a:solidFill>
                <a:latin typeface="Times New Roman" panose="02020603050405020304" pitchFamily="18" charset="0"/>
                <a:cs typeface="Times New Roman" panose="02020603050405020304" pitchFamily="18" charset="0"/>
              </a:rPr>
              <a:t>ARTIFICIAL INTELLIGENCE</a:t>
            </a:r>
          </a:p>
          <a:p>
            <a:pPr algn="ctr"/>
            <a:r>
              <a:rPr lang="en-US" sz="4800" b="1" dirty="0">
                <a:solidFill>
                  <a:srgbClr val="FF0000"/>
                </a:solidFill>
                <a:latin typeface="Times New Roman" panose="02020603050405020304" pitchFamily="18" charset="0"/>
                <a:cs typeface="Times New Roman" panose="02020603050405020304" pitchFamily="18" charset="0"/>
              </a:rPr>
              <a:t> INTERNSHIP</a:t>
            </a:r>
          </a:p>
          <a:p>
            <a:pPr algn="ctr"/>
            <a:endParaRPr lang="en-US" sz="5400" b="1" dirty="0">
              <a:solidFill>
                <a:srgbClr val="FF0000"/>
              </a:solidFill>
              <a:latin typeface="Times New Roman" panose="02020603050405020304" pitchFamily="18" charset="0"/>
              <a:cs typeface="Times New Roman" panose="02020603050405020304" pitchFamily="18" charset="0"/>
            </a:endParaRPr>
          </a:p>
          <a:p>
            <a:pPr algn="ctr"/>
            <a:endParaRPr lang="en-US" sz="54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747025"/>
          </a:xfrm>
        </p:spPr>
        <p:txBody>
          <a:bodyPr/>
          <a:lstStyle/>
          <a:p>
            <a:pPr algn="l"/>
            <a:r>
              <a:rPr lang="en-IN" sz="3200" b="1" dirty="0">
                <a:solidFill>
                  <a:srgbClr val="FF0000"/>
                </a:solidFill>
                <a:latin typeface="Times New Roman" panose="02020603050405020304" pitchFamily="18" charset="0"/>
                <a:cs typeface="Times New Roman" panose="02020603050405020304" pitchFamily="18" charset="0"/>
                <a:sym typeface="+mn-ea"/>
              </a:rPr>
              <a:t>TABLE OF CONTENTS:</a:t>
            </a:r>
          </a:p>
        </p:txBody>
      </p:sp>
      <p:sp>
        <p:nvSpPr>
          <p:cNvPr id="3" name="Content Placeholder 2"/>
          <p:cNvSpPr>
            <a:spLocks noGrp="1"/>
          </p:cNvSpPr>
          <p:nvPr>
            <p:ph idx="1"/>
          </p:nvPr>
        </p:nvSpPr>
        <p:spPr>
          <a:xfrm>
            <a:off x="609600" y="1749287"/>
            <a:ext cx="10972800" cy="4377194"/>
          </a:xfrm>
        </p:spPr>
        <p:txBody>
          <a:bodyPr>
            <a:normAutofit/>
          </a:bodyPr>
          <a:lstStyle/>
          <a:p>
            <a:r>
              <a:rPr lang="en-US" sz="2400" dirty="0">
                <a:latin typeface="Times New Roman" panose="02020603050405020304" pitchFamily="18" charset="0"/>
                <a:cs typeface="Times New Roman" panose="02020603050405020304" pitchFamily="18" charset="0"/>
              </a:rPr>
              <a:t>Introduction to Artificial Intelligence</a:t>
            </a:r>
          </a:p>
          <a:p>
            <a:r>
              <a:rPr lang="en-US" sz="2400" dirty="0">
                <a:latin typeface="Times New Roman" panose="02020603050405020304" pitchFamily="18" charset="0"/>
                <a:cs typeface="Times New Roman" panose="02020603050405020304" pitchFamily="18" charset="0"/>
              </a:rPr>
              <a:t>Applications of Artificial Intelligence</a:t>
            </a:r>
          </a:p>
          <a:p>
            <a:r>
              <a:rPr lang="en-US" sz="2400" dirty="0">
                <a:latin typeface="Times New Roman" panose="02020603050405020304" pitchFamily="18" charset="0"/>
                <a:cs typeface="Times New Roman" panose="02020603050405020304" pitchFamily="18" charset="0"/>
              </a:rPr>
              <a:t>AI-Data Understanding</a:t>
            </a:r>
          </a:p>
          <a:p>
            <a:r>
              <a:rPr lang="en-US" sz="2400" dirty="0">
                <a:latin typeface="Times New Roman" panose="02020603050405020304" pitchFamily="18" charset="0"/>
                <a:cs typeface="Times New Roman" panose="02020603050405020304" pitchFamily="18" charset="0"/>
              </a:rPr>
              <a:t>AI-Big Data</a:t>
            </a:r>
          </a:p>
          <a:p>
            <a:r>
              <a:rPr lang="en-US" sz="2400" dirty="0">
                <a:latin typeface="Times New Roman" panose="02020603050405020304" pitchFamily="18" charset="0"/>
                <a:cs typeface="Times New Roman" panose="02020603050405020304" pitchFamily="18" charset="0"/>
              </a:rPr>
              <a:t>Machine learning fundamentals</a:t>
            </a:r>
          </a:p>
          <a:p>
            <a:r>
              <a:rPr lang="en-US" sz="2400" dirty="0">
                <a:latin typeface="Times New Roman" panose="02020603050405020304" pitchFamily="18" charset="0"/>
                <a:cs typeface="Times New Roman" panose="02020603050405020304" pitchFamily="18" charset="0"/>
              </a:rPr>
              <a:t>Deep learning</a:t>
            </a:r>
          </a:p>
          <a:p>
            <a:r>
              <a:rPr lang="en-US" sz="2400" dirty="0">
                <a:latin typeface="Times New Roman" panose="02020603050405020304" pitchFamily="18" charset="0"/>
                <a:cs typeface="Times New Roman" panose="02020603050405020304" pitchFamily="18" charset="0"/>
              </a:rPr>
              <a:t>Natural language processing</a:t>
            </a:r>
          </a:p>
          <a:p>
            <a:r>
              <a:rPr lang="en-US" sz="2400" dirty="0">
                <a:latin typeface="Times New Roman" panose="02020603050405020304" pitchFamily="18" charset="0"/>
                <a:cs typeface="Times New Roman" panose="02020603050405020304" pitchFamily="18" charset="0"/>
              </a:rPr>
              <a:t>Annexure</a:t>
            </a:r>
          </a:p>
          <a:p>
            <a:r>
              <a:rPr lang="en-US" sz="2400" dirty="0">
                <a:latin typeface="Times New Roman" panose="02020603050405020304" pitchFamily="18" charset="0"/>
                <a:cs typeface="Times New Roman" panose="02020603050405020304" pitchFamily="18" charset="0"/>
              </a:rPr>
              <a:t>Conclusion</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104" y="924339"/>
            <a:ext cx="10916477" cy="457200"/>
          </a:xfrm>
        </p:spPr>
        <p:txBody>
          <a:bodyPr>
            <a:noAutofit/>
          </a:bodyPr>
          <a:lstStyle/>
          <a:p>
            <a:pPr algn="l"/>
            <a:r>
              <a:rPr lang="en-US" sz="3200" b="1" dirty="0">
                <a:solidFill>
                  <a:srgbClr val="FF0000"/>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609600" y="1729409"/>
            <a:ext cx="10972800" cy="4770781"/>
          </a:xfrm>
        </p:spPr>
        <p:txBody>
          <a:bodyPr>
            <a:normAutofit/>
          </a:bodyPr>
          <a:lstStyle/>
          <a:p>
            <a:pPr algn="just"/>
            <a:r>
              <a:rPr lang="en-US" sz="2400" dirty="0">
                <a:latin typeface="Times New Roman" panose="02020603050405020304" pitchFamily="18" charset="0"/>
                <a:cs typeface="Times New Roman" panose="02020603050405020304" pitchFamily="18" charset="0"/>
              </a:rPr>
              <a:t>Artificial Intelligence (AI) refers to the development of computer systems that can perform tasks typically requiring human </a:t>
            </a:r>
            <a:r>
              <a:rPr lang="en-US" sz="2400" dirty="0" err="1">
                <a:latin typeface="Times New Roman" panose="02020603050405020304" pitchFamily="18" charset="0"/>
                <a:cs typeface="Times New Roman" panose="02020603050405020304" pitchFamily="18" charset="0"/>
              </a:rPr>
              <a:t>intelligence.These</a:t>
            </a:r>
            <a:r>
              <a:rPr lang="en-US" sz="2400" dirty="0">
                <a:latin typeface="Times New Roman" panose="02020603050405020304" pitchFamily="18" charset="0"/>
                <a:cs typeface="Times New Roman" panose="02020603050405020304" pitchFamily="18" charset="0"/>
              </a:rPr>
              <a:t> tasks include activities such as learning, reasoning, problem-solving, understanding language, and even perceiving the world in a way that resembles human senses.</a:t>
            </a:r>
          </a:p>
          <a:p>
            <a:pPr algn="just"/>
            <a:r>
              <a:rPr lang="en-US" sz="2400" dirty="0">
                <a:latin typeface="Times New Roman" panose="02020603050405020304" pitchFamily="18" charset="0"/>
                <a:cs typeface="Times New Roman" panose="02020603050405020304" pitchFamily="18" charset="0"/>
              </a:rPr>
              <a:t>In essence, AI enables machines to:</a:t>
            </a:r>
          </a:p>
          <a:p>
            <a:pPr algn="just"/>
            <a:r>
              <a:rPr lang="en-US" sz="2400" b="1" dirty="0">
                <a:latin typeface="Times New Roman" panose="02020603050405020304" pitchFamily="18" charset="0"/>
                <a:cs typeface="Times New Roman" panose="02020603050405020304" pitchFamily="18" charset="0"/>
              </a:rPr>
              <a:t>Perceive</a:t>
            </a:r>
            <a:r>
              <a:rPr lang="en-US" sz="2400" dirty="0">
                <a:latin typeface="Times New Roman" panose="02020603050405020304" pitchFamily="18" charset="0"/>
                <a:cs typeface="Times New Roman" panose="02020603050405020304" pitchFamily="18" charset="0"/>
              </a:rPr>
              <a:t> their environment through data input like images, speech, and text.</a:t>
            </a:r>
          </a:p>
          <a:p>
            <a:pPr algn="just"/>
            <a:r>
              <a:rPr lang="en-US" sz="2400" b="1" dirty="0">
                <a:latin typeface="Times New Roman" panose="02020603050405020304" pitchFamily="18" charset="0"/>
                <a:cs typeface="Times New Roman" panose="02020603050405020304" pitchFamily="18" charset="0"/>
              </a:rPr>
              <a:t>Analyze</a:t>
            </a:r>
            <a:r>
              <a:rPr lang="en-US" sz="2400" dirty="0">
                <a:latin typeface="Times New Roman" panose="02020603050405020304" pitchFamily="18" charset="0"/>
                <a:cs typeface="Times New Roman" panose="02020603050405020304" pitchFamily="18" charset="0"/>
              </a:rPr>
              <a:t> data and extract meaningful information or patterns.</a:t>
            </a:r>
          </a:p>
          <a:p>
            <a:pPr algn="just"/>
            <a:r>
              <a:rPr lang="en-US" sz="2400" b="1" dirty="0">
                <a:latin typeface="Times New Roman" panose="02020603050405020304" pitchFamily="18" charset="0"/>
                <a:cs typeface="Times New Roman" panose="02020603050405020304" pitchFamily="18" charset="0"/>
              </a:rPr>
              <a:t>Act</a:t>
            </a:r>
            <a:r>
              <a:rPr lang="en-US" sz="2400" dirty="0">
                <a:latin typeface="Times New Roman" panose="02020603050405020304" pitchFamily="18" charset="0"/>
                <a:cs typeface="Times New Roman" panose="02020603050405020304" pitchFamily="18" charset="0"/>
              </a:rPr>
              <a:t> based on learned information to make decisions, predictions, or recommendations.</a:t>
            </a:r>
          </a:p>
          <a:p>
            <a:pPr algn="just"/>
            <a:r>
              <a:rPr lang="en-US" sz="2400" b="1" dirty="0">
                <a:latin typeface="Times New Roman" panose="02020603050405020304" pitchFamily="18" charset="0"/>
                <a:cs typeface="Times New Roman" panose="02020603050405020304" pitchFamily="18" charset="0"/>
              </a:rPr>
              <a:t>Learn</a:t>
            </a:r>
            <a:r>
              <a:rPr lang="en-US" sz="2400" dirty="0">
                <a:latin typeface="Times New Roman" panose="02020603050405020304" pitchFamily="18" charset="0"/>
                <a:cs typeface="Times New Roman" panose="02020603050405020304" pitchFamily="18" charset="0"/>
              </a:rPr>
              <a:t> from experience, adjusting their actions or predictions over time without explicit programming.</a:t>
            </a: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470" y="463798"/>
            <a:ext cx="10976112" cy="863600"/>
          </a:xfrm>
        </p:spPr>
        <p:txBody>
          <a:bodyPr/>
          <a:lstStyle/>
          <a:p>
            <a:r>
              <a:rPr lang="en-US" sz="3200" b="1" dirty="0">
                <a:solidFill>
                  <a:srgbClr val="FF0000"/>
                </a:solidFill>
                <a:latin typeface="Times New Roman" panose="02020603050405020304" pitchFamily="18" charset="0"/>
                <a:cs typeface="Times New Roman" panose="02020603050405020304" pitchFamily="18" charset="0"/>
              </a:rPr>
              <a:t>APPLICATIONS OF ARTIFICIAL INTELLIGENCE:</a:t>
            </a:r>
          </a:p>
        </p:txBody>
      </p:sp>
      <p:sp>
        <p:nvSpPr>
          <p:cNvPr id="3" name="Content Placeholder 2"/>
          <p:cNvSpPr>
            <a:spLocks noGrp="1"/>
          </p:cNvSpPr>
          <p:nvPr>
            <p:ph idx="1"/>
          </p:nvPr>
        </p:nvSpPr>
        <p:spPr>
          <a:xfrm>
            <a:off x="609600" y="1729409"/>
            <a:ext cx="10972800" cy="4781880"/>
          </a:xfrm>
        </p:spPr>
        <p:txBody>
          <a:bodyPr/>
          <a:lstStyle/>
          <a:p>
            <a:r>
              <a:rPr lang="en-US" sz="2400" dirty="0"/>
              <a:t>Marketing </a:t>
            </a:r>
          </a:p>
          <a:p>
            <a:r>
              <a:rPr lang="en-US" sz="2400" dirty="0"/>
              <a:t>Banking </a:t>
            </a:r>
          </a:p>
          <a:p>
            <a:r>
              <a:rPr lang="en-US" sz="2400" dirty="0"/>
              <a:t>Finance </a:t>
            </a:r>
          </a:p>
          <a:p>
            <a:r>
              <a:rPr lang="en-US" sz="2400" dirty="0"/>
              <a:t>Agriculture </a:t>
            </a:r>
          </a:p>
          <a:p>
            <a:r>
              <a:rPr lang="en-US" sz="2400" dirty="0"/>
              <a:t>HealthCare                                                                          </a:t>
            </a:r>
          </a:p>
          <a:p>
            <a:r>
              <a:rPr lang="en-US" sz="2400" dirty="0"/>
              <a:t>Gaming </a:t>
            </a:r>
          </a:p>
          <a:p>
            <a:r>
              <a:rPr lang="en-US" sz="2400" dirty="0"/>
              <a:t>Space Exploration </a:t>
            </a:r>
          </a:p>
          <a:p>
            <a:r>
              <a:rPr lang="en-US" sz="2400" dirty="0"/>
              <a:t>Autonomous Vehicles </a:t>
            </a:r>
          </a:p>
          <a:p>
            <a:r>
              <a:rPr lang="en-US" sz="2400" dirty="0" err="1"/>
              <a:t>Chatbots</a:t>
            </a:r>
            <a:r>
              <a:rPr lang="en-US" sz="2400" dirty="0"/>
              <a:t> </a:t>
            </a:r>
          </a:p>
          <a:p>
            <a:r>
              <a:rPr lang="en-US" sz="2400" dirty="0"/>
              <a:t>Artificial Creativity</a:t>
            </a:r>
            <a:endParaRPr lang="en-US" sz="2400"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a:stretch>
            <a:fillRect/>
          </a:stretch>
        </p:blipFill>
        <p:spPr>
          <a:xfrm>
            <a:off x="5834270" y="2256184"/>
            <a:ext cx="4263888" cy="35780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90"/>
            <a:ext cx="10972800" cy="607875"/>
          </a:xfrm>
        </p:spPr>
        <p:txBody>
          <a:bodyPr/>
          <a:lstStyle/>
          <a:p>
            <a:pPr algn="l"/>
            <a:r>
              <a:rPr lang="en-US" sz="3200" b="1" dirty="0">
                <a:solidFill>
                  <a:srgbClr val="FF0000"/>
                </a:solidFill>
                <a:latin typeface="Times New Roman" panose="02020603050405020304" pitchFamily="18" charset="0"/>
                <a:cs typeface="Times New Roman" panose="02020603050405020304" pitchFamily="18" charset="0"/>
                <a:sym typeface="+mn-ea"/>
              </a:rPr>
              <a:t>AI-DATA UNDERSTANDING:</a:t>
            </a:r>
          </a:p>
        </p:txBody>
      </p:sp>
      <p:sp>
        <p:nvSpPr>
          <p:cNvPr id="3" name="Content Placeholder 2"/>
          <p:cNvSpPr>
            <a:spLocks noGrp="1"/>
          </p:cNvSpPr>
          <p:nvPr>
            <p:ph idx="1"/>
          </p:nvPr>
        </p:nvSpPr>
        <p:spPr>
          <a:xfrm>
            <a:off x="609600" y="1659835"/>
            <a:ext cx="10972800" cy="4466645"/>
          </a:xfrm>
        </p:spPr>
        <p:txBody>
          <a:bodyPr>
            <a:noAutofit/>
          </a:bodyPr>
          <a:lstStyle/>
          <a:p>
            <a:pPr algn="just"/>
            <a:r>
              <a:rPr lang="en-US" sz="2400" dirty="0">
                <a:latin typeface="Times New Roman" panose="02020603050405020304" pitchFamily="18" charset="0"/>
                <a:cs typeface="Times New Roman" panose="02020603050405020304" pitchFamily="18" charset="0"/>
              </a:rPr>
              <a:t>AI data understanding is the process of using artificial intelligence (AI) to analyze and interpret data to gain insights and make predictions. </a:t>
            </a:r>
          </a:p>
          <a:p>
            <a:pPr algn="just">
              <a:buNone/>
            </a:pPr>
            <a:r>
              <a:rPr lang="en-US" sz="2400" dirty="0">
                <a:latin typeface="Times New Roman" panose="02020603050405020304" pitchFamily="18" charset="0"/>
                <a:cs typeface="Times New Roman" panose="02020603050405020304" pitchFamily="18" charset="0"/>
              </a:rPr>
              <a:t>Here are some ways AI data understanding can help: </a:t>
            </a:r>
          </a:p>
          <a:p>
            <a:pPr algn="just"/>
            <a:r>
              <a:rPr lang="en-US" sz="2400" dirty="0">
                <a:latin typeface="Times New Roman" panose="02020603050405020304" pitchFamily="18" charset="0"/>
                <a:cs typeface="Times New Roman" panose="02020603050405020304" pitchFamily="18" charset="0"/>
              </a:rPr>
              <a:t>Automate data analysis -AI can automate many of the tasks that data analysts traditionally do, such as cleansing, inspecting, and modeling data.</a:t>
            </a:r>
          </a:p>
          <a:p>
            <a:pPr algn="just"/>
            <a:r>
              <a:rPr lang="en-US" sz="2400" dirty="0">
                <a:latin typeface="Times New Roman" panose="02020603050405020304" pitchFamily="18" charset="0"/>
                <a:cs typeface="Times New Roman" panose="02020603050405020304" pitchFamily="18" charset="0"/>
              </a:rPr>
              <a:t>Identify patterns-AI can identify patterns and trends in data to help analysts make informed decisions.</a:t>
            </a:r>
          </a:p>
          <a:p>
            <a:pPr algn="just">
              <a:buNone/>
            </a:pPr>
            <a:r>
              <a:rPr lang="en-US" sz="2400" dirty="0">
                <a:latin typeface="Times New Roman" panose="02020603050405020304" pitchFamily="18" charset="0"/>
                <a:cs typeface="Times New Roman" panose="02020603050405020304" pitchFamily="18" charset="0"/>
              </a:rPr>
              <a:t>Some examples of how AI data understanding can be used include:</a:t>
            </a:r>
          </a:p>
          <a:p>
            <a:pPr algn="just"/>
            <a:r>
              <a:rPr lang="en-US" sz="2400" dirty="0">
                <a:latin typeface="Times New Roman" panose="02020603050405020304" pitchFamily="18" charset="0"/>
                <a:cs typeface="Times New Roman" panose="02020603050405020304" pitchFamily="18" charset="0"/>
              </a:rPr>
              <a:t>Predicting sales - A retail company can use AI to analyze past sales data, customer behavior, and trends to predict future sales.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9"/>
            <a:ext cx="10972800" cy="617815"/>
          </a:xfrm>
        </p:spPr>
        <p:txBody>
          <a:bodyPr/>
          <a:lstStyle/>
          <a:p>
            <a:pPr algn="l"/>
            <a:r>
              <a:rPr lang="en-US" sz="3200" b="1" dirty="0">
                <a:solidFill>
                  <a:srgbClr val="FF0000"/>
                </a:solidFill>
                <a:latin typeface="Times New Roman" panose="02020603050405020304" pitchFamily="18" charset="0"/>
                <a:cs typeface="Times New Roman" panose="02020603050405020304" pitchFamily="18" charset="0"/>
                <a:sym typeface="+mn-ea"/>
              </a:rPr>
              <a:t>AI-BIG DATA:</a:t>
            </a:r>
          </a:p>
        </p:txBody>
      </p:sp>
      <p:sp>
        <p:nvSpPr>
          <p:cNvPr id="3" name="Content Placeholder 2"/>
          <p:cNvSpPr>
            <a:spLocks noGrp="1"/>
          </p:cNvSpPr>
          <p:nvPr>
            <p:ph idx="1"/>
          </p:nvPr>
        </p:nvSpPr>
        <p:spPr>
          <a:xfrm>
            <a:off x="609600" y="1729409"/>
            <a:ext cx="10972800" cy="4397070"/>
          </a:xfrm>
        </p:spPr>
        <p:txBody>
          <a:bodyPr>
            <a:normAutofit/>
          </a:bodyPr>
          <a:lstStyle/>
          <a:p>
            <a:pPr algn="just"/>
            <a:r>
              <a:rPr lang="en-US" sz="2400" dirty="0">
                <a:latin typeface="Times New Roman" panose="02020603050405020304" pitchFamily="18" charset="0"/>
                <a:cs typeface="Times New Roman" panose="02020603050405020304" pitchFamily="18" charset="0"/>
              </a:rPr>
              <a:t>Big Data's Role in AI:  Big data refers to extremely large datasets that can be analyzed computationally to reveal patterns, trends, and associations, especially relating to human behavior and interactions. </a:t>
            </a:r>
          </a:p>
          <a:p>
            <a:pPr algn="just"/>
            <a:r>
              <a:rPr lang="en-US" sz="2400" dirty="0">
                <a:latin typeface="Times New Roman" panose="02020603050405020304" pitchFamily="18" charset="0"/>
                <a:cs typeface="Times New Roman" panose="02020603050405020304" pitchFamily="18" charset="0"/>
              </a:rPr>
              <a:t>AI, particularly machine learning, thrives on data to learn and make predictions. The more data AI has, the better it becomes at making accurate predictions or decisions.</a:t>
            </a:r>
          </a:p>
          <a:p>
            <a:pPr algn="just"/>
            <a:r>
              <a:rPr lang="en-US" sz="2400" dirty="0">
                <a:latin typeface="Times New Roman" panose="02020603050405020304" pitchFamily="18" charset="0"/>
                <a:cs typeface="Times New Roman" panose="02020603050405020304" pitchFamily="18" charset="0"/>
              </a:rPr>
              <a:t>Training Machine Learning Models: AI models, especially deep learning, require vast amounts of data to learn complex patterns. Big data provides the fuel for these models to train effectively.</a:t>
            </a:r>
          </a:p>
          <a:p>
            <a:pPr algn="just"/>
            <a:r>
              <a:rPr lang="en-US" sz="2400" dirty="0">
                <a:latin typeface="Times New Roman" panose="02020603050405020304" pitchFamily="18" charset="0"/>
                <a:cs typeface="Times New Roman" panose="02020603050405020304" pitchFamily="18" charset="0"/>
              </a:rPr>
              <a:t> Data-Driven Insights: AI systems analyze big data to provide insights, spot trends, and make decisions that would be difficult or impossible for humans to do manually.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657573"/>
          </a:xfrm>
        </p:spPr>
        <p:txBody>
          <a:bodyPr/>
          <a:lstStyle/>
          <a:p>
            <a:pPr algn="l"/>
            <a:r>
              <a:rPr lang="en-US" sz="3200" b="1" dirty="0">
                <a:solidFill>
                  <a:srgbClr val="FF0000"/>
                </a:solidFill>
                <a:latin typeface="Times New Roman" panose="02020603050405020304" pitchFamily="18" charset="0"/>
                <a:cs typeface="Times New Roman" panose="02020603050405020304" pitchFamily="18" charset="0"/>
                <a:sym typeface="+mn-ea"/>
              </a:rPr>
              <a:t>MACHINE LEARNING FUNDAMENTALS:</a:t>
            </a:r>
          </a:p>
        </p:txBody>
      </p:sp>
      <p:sp>
        <p:nvSpPr>
          <p:cNvPr id="3" name="Content Placeholder 2"/>
          <p:cNvSpPr>
            <a:spLocks noGrp="1"/>
          </p:cNvSpPr>
          <p:nvPr>
            <p:ph idx="1"/>
          </p:nvPr>
        </p:nvSpPr>
        <p:spPr>
          <a:xfrm>
            <a:off x="609600" y="1779104"/>
            <a:ext cx="10972800" cy="4545496"/>
          </a:xfrm>
        </p:spPr>
        <p:txBody>
          <a:bodyPr>
            <a:normAutofit/>
          </a:bodyPr>
          <a:lstStyle/>
          <a:p>
            <a:pPr algn="just"/>
            <a:r>
              <a:rPr lang="en-US" sz="2400" dirty="0">
                <a:latin typeface="Times New Roman" panose="02020603050405020304" pitchFamily="18" charset="0"/>
                <a:cs typeface="Times New Roman" panose="02020603050405020304" pitchFamily="18" charset="0"/>
              </a:rPr>
              <a:t>Machine learning is a branch of artificial intelligence that allows computers to learn from data and make decisions without being explicitly programmed.</a:t>
            </a:r>
          </a:p>
          <a:p>
            <a:pPr algn="just"/>
            <a:r>
              <a:rPr lang="en-US" sz="2400" dirty="0">
                <a:latin typeface="Times New Roman" panose="02020603050405020304" pitchFamily="18" charset="0"/>
                <a:cs typeface="Times New Roman" panose="02020603050405020304" pitchFamily="18" charset="0"/>
              </a:rPr>
              <a:t>It relies on several key fundamentals, starting with data, which can include various types such as numbers, text, or images.</a:t>
            </a:r>
          </a:p>
          <a:p>
            <a:pPr algn="just"/>
            <a:r>
              <a:rPr lang="en-US" sz="2400" dirty="0">
                <a:latin typeface="Times New Roman" panose="02020603050405020304" pitchFamily="18" charset="0"/>
                <a:cs typeface="Times New Roman" panose="02020603050405020304" pitchFamily="18" charset="0"/>
              </a:rPr>
              <a:t>Algorithms play a crucial role in analyzing this data and identifying patterns, with common types including supervised learning, unsupervised learning and reinforcement learning.</a:t>
            </a:r>
          </a:p>
          <a:p>
            <a:pPr algn="just"/>
            <a:r>
              <a:rPr lang="en-US" sz="2400" dirty="0">
                <a:latin typeface="Times New Roman" panose="02020603050405020304" pitchFamily="18" charset="0"/>
                <a:cs typeface="Times New Roman" panose="02020603050405020304" pitchFamily="18" charset="0"/>
              </a:rPr>
              <a:t>The process of training involves teaching the model using a dataset, where it adjusts its parameters to recognize patterns and make predictions.</a:t>
            </a:r>
          </a:p>
          <a:p>
            <a:pPr algn="just"/>
            <a:r>
              <a:rPr lang="en-US" sz="2400" dirty="0">
                <a:latin typeface="Times New Roman" panose="02020603050405020304" pitchFamily="18" charset="0"/>
                <a:cs typeface="Times New Roman" panose="02020603050405020304" pitchFamily="18" charset="0"/>
              </a:rPr>
              <a:t>After training, the model is tested on new, unseen data to evaluate its accuracy and performance.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657573"/>
          </a:xfrm>
        </p:spPr>
        <p:txBody>
          <a:bodyPr/>
          <a:lstStyle/>
          <a:p>
            <a:pPr algn="l"/>
            <a:r>
              <a:rPr lang="en-US" sz="3200" b="1" dirty="0">
                <a:solidFill>
                  <a:srgbClr val="FF0000"/>
                </a:solidFill>
                <a:latin typeface="Times New Roman" panose="02020603050405020304" pitchFamily="18" charset="0"/>
                <a:cs typeface="Times New Roman" panose="02020603050405020304" pitchFamily="18" charset="0"/>
                <a:sym typeface="+mn-ea"/>
              </a:rPr>
              <a:t>DEEP LEARNING:</a:t>
            </a:r>
          </a:p>
        </p:txBody>
      </p:sp>
      <p:sp>
        <p:nvSpPr>
          <p:cNvPr id="3" name="Content Placeholder 2"/>
          <p:cNvSpPr>
            <a:spLocks noGrp="1"/>
          </p:cNvSpPr>
          <p:nvPr>
            <p:ph idx="1"/>
          </p:nvPr>
        </p:nvSpPr>
        <p:spPr>
          <a:xfrm>
            <a:off x="609600" y="1779104"/>
            <a:ext cx="10972800" cy="4347376"/>
          </a:xfrm>
        </p:spPr>
        <p:txBody>
          <a:bodyPr/>
          <a:lstStyle/>
          <a:p>
            <a:pPr algn="just"/>
            <a:r>
              <a:rPr lang="en-US" sz="2400" dirty="0">
                <a:latin typeface="Times New Roman" panose="02020603050405020304" pitchFamily="18" charset="0"/>
                <a:cs typeface="Times New Roman" panose="02020603050405020304" pitchFamily="18" charset="0"/>
              </a:rPr>
              <a:t>Deep learning is a specialized area of machine learning that uses neural networks with many layers to analyze and understand complex data.</a:t>
            </a:r>
          </a:p>
          <a:p>
            <a:pPr algn="just"/>
            <a:r>
              <a:rPr lang="en-US" sz="2400" b="1" dirty="0">
                <a:latin typeface="Times New Roman" panose="02020603050405020304" pitchFamily="18" charset="0"/>
                <a:cs typeface="Times New Roman" panose="02020603050405020304" pitchFamily="18" charset="0"/>
              </a:rPr>
              <a:t>Neural Networks:</a:t>
            </a:r>
            <a:r>
              <a:rPr lang="en-US" sz="2400" dirty="0">
                <a:latin typeface="Times New Roman" panose="02020603050405020304" pitchFamily="18" charset="0"/>
                <a:cs typeface="Times New Roman" panose="02020603050405020304" pitchFamily="18" charset="0"/>
              </a:rPr>
              <a:t> These are inspired by the human brain and consist of interconnected nodes that process information. Each layer of the network extracts different features from the data, starting from simple features in the first layer to more complex features in deeper layers.</a:t>
            </a:r>
          </a:p>
          <a:p>
            <a:pPr algn="just"/>
            <a:r>
              <a:rPr lang="en-US" sz="2400" b="1" dirty="0">
                <a:latin typeface="Times New Roman" panose="02020603050405020304" pitchFamily="18" charset="0"/>
                <a:cs typeface="Times New Roman" panose="02020603050405020304" pitchFamily="18" charset="0"/>
              </a:rPr>
              <a:t>Layers:</a:t>
            </a:r>
            <a:r>
              <a:rPr lang="en-US" sz="2400" dirty="0">
                <a:latin typeface="Times New Roman" panose="02020603050405020304" pitchFamily="18" charset="0"/>
                <a:cs typeface="Times New Roman" panose="02020603050405020304" pitchFamily="18" charset="0"/>
              </a:rPr>
              <a:t> A deep learning model typically has an input layer (where data is fed in), several hidden layers (where processing happens), and an output layer (where predictions or classifications are made). The depth of the model allows it to learn intricate patterns in large datasets.</a:t>
            </a: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9"/>
            <a:ext cx="10972800" cy="647633"/>
          </a:xfrm>
        </p:spPr>
        <p:txBody>
          <a:bodyPr/>
          <a:lstStyle/>
          <a:p>
            <a:pPr algn="l"/>
            <a:r>
              <a:rPr lang="en-US" sz="3200" b="1" dirty="0">
                <a:solidFill>
                  <a:srgbClr val="FF0000"/>
                </a:solidFill>
                <a:latin typeface="Times New Roman" panose="02020603050405020304" pitchFamily="18" charset="0"/>
                <a:cs typeface="Times New Roman" panose="02020603050405020304" pitchFamily="18" charset="0"/>
                <a:sym typeface="+mn-ea"/>
              </a:rPr>
              <a:t>NATURAL LANGUAGE PROCESSING:</a:t>
            </a:r>
          </a:p>
        </p:txBody>
      </p:sp>
      <p:sp>
        <p:nvSpPr>
          <p:cNvPr id="3" name="Content Placeholder 2"/>
          <p:cNvSpPr>
            <a:spLocks noGrp="1"/>
          </p:cNvSpPr>
          <p:nvPr>
            <p:ph idx="1"/>
          </p:nvPr>
        </p:nvSpPr>
        <p:spPr>
          <a:xfrm>
            <a:off x="609600" y="1798983"/>
            <a:ext cx="10972800" cy="4327497"/>
          </a:xfrm>
        </p:spPr>
        <p:txBody>
          <a:bodyPr/>
          <a:lstStyle/>
          <a:p>
            <a:pPr algn="just"/>
            <a:r>
              <a:rPr lang="en-US" sz="2400" dirty="0">
                <a:latin typeface="Times New Roman" panose="02020603050405020304" pitchFamily="18" charset="0"/>
                <a:cs typeface="Times New Roman" panose="02020603050405020304" pitchFamily="18" charset="0"/>
              </a:rPr>
              <a:t>Natural Language Processing (NLP) is a branch of artificial intelligence that focuses on enabling computers to understand, interpret, and generate human language in a meaningful way.</a:t>
            </a:r>
          </a:p>
          <a:p>
            <a:pPr algn="just"/>
            <a:r>
              <a:rPr lang="en-US" sz="2400" dirty="0">
                <a:latin typeface="Times New Roman" panose="02020603050405020304" pitchFamily="18" charset="0"/>
                <a:cs typeface="Times New Roman" panose="02020603050405020304" pitchFamily="18" charset="0"/>
              </a:rPr>
              <a:t> This involves processing text or speech and breaking it down into its components, such as words and sentences, so that machines can comprehend their meaning.</a:t>
            </a:r>
          </a:p>
          <a:p>
            <a:pPr algn="just"/>
            <a:r>
              <a:rPr lang="en-US" sz="2400" dirty="0">
                <a:latin typeface="Times New Roman" panose="02020603050405020304" pitchFamily="18" charset="0"/>
                <a:cs typeface="Times New Roman" panose="02020603050405020304" pitchFamily="18" charset="0"/>
              </a:rPr>
              <a:t>NLP is widely used in applications like </a:t>
            </a:r>
            <a:r>
              <a:rPr lang="en-US" sz="2400" dirty="0" err="1">
                <a:latin typeface="Times New Roman" panose="02020603050405020304" pitchFamily="18" charset="0"/>
                <a:cs typeface="Times New Roman" panose="02020603050405020304" pitchFamily="18" charset="0"/>
              </a:rPr>
              <a:t>chatbots</a:t>
            </a:r>
            <a:r>
              <a:rPr lang="en-US" sz="2400" dirty="0">
                <a:latin typeface="Times New Roman" panose="02020603050405020304" pitchFamily="18" charset="0"/>
                <a:cs typeface="Times New Roman" panose="02020603050405020304" pitchFamily="18" charset="0"/>
              </a:rPr>
              <a:t>, language translation, sentiment analysis (which determines the emotional tone of text), and speech recognition.</a:t>
            </a:r>
          </a:p>
          <a:p>
            <a:pPr algn="just"/>
            <a:r>
              <a:rPr lang="en-US" sz="2400" dirty="0">
                <a:latin typeface="Times New Roman" panose="02020603050405020304" pitchFamily="18" charset="0"/>
                <a:cs typeface="Times New Roman" panose="02020603050405020304" pitchFamily="18" charset="0"/>
              </a:rPr>
              <a:t>understanding human language is complex due to factors like context, slang, idioms, and the varying meanings of words, making NLP a challenging and dynamic area of study.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687390"/>
          </a:xfrm>
        </p:spPr>
        <p:txBody>
          <a:bodyPr/>
          <a:lstStyle/>
          <a:p>
            <a:pPr algn="l"/>
            <a:r>
              <a:rPr lang="en-US" sz="3200" b="1" dirty="0">
                <a:solidFill>
                  <a:srgbClr val="FF0000"/>
                </a:solidFill>
                <a:latin typeface="Times New Roman" panose="02020603050405020304" pitchFamily="18" charset="0"/>
                <a:cs typeface="Times New Roman" panose="02020603050405020304" pitchFamily="18" charset="0"/>
                <a:sym typeface="+mn-ea"/>
              </a:rPr>
              <a:t>ANNEXURE:</a:t>
            </a:r>
          </a:p>
        </p:txBody>
      </p:sp>
      <p:sp>
        <p:nvSpPr>
          <p:cNvPr id="3" name="Content Placeholder 2"/>
          <p:cNvSpPr>
            <a:spLocks noGrp="1"/>
          </p:cNvSpPr>
          <p:nvPr>
            <p:ph idx="1"/>
          </p:nvPr>
        </p:nvSpPr>
        <p:spPr>
          <a:xfrm>
            <a:off x="609600" y="1739348"/>
            <a:ext cx="10972800" cy="4442791"/>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Tic-tac-toe Implementation in AI Using Python: </a:t>
            </a:r>
          </a:p>
          <a:p>
            <a:pPr marL="0" indent="0">
              <a:buNone/>
            </a:pPr>
            <a:r>
              <a:rPr lang="en-US" sz="2400" dirty="0">
                <a:latin typeface="Times New Roman" panose="02020603050405020304" pitchFamily="18" charset="0"/>
                <a:cs typeface="Times New Roman" panose="02020603050405020304" pitchFamily="18" charset="0"/>
              </a:rPr>
              <a:t>To implement Tic-</a:t>
            </a:r>
            <a:r>
              <a:rPr lang="en-US" sz="2400" dirty="0" err="1">
                <a:latin typeface="Times New Roman" panose="02020603050405020304" pitchFamily="18" charset="0"/>
                <a:cs typeface="Times New Roman" panose="02020603050405020304" pitchFamily="18" charset="0"/>
              </a:rPr>
              <a:t>Tac</a:t>
            </a:r>
            <a:r>
              <a:rPr lang="en-US" sz="2400" dirty="0">
                <a:latin typeface="Times New Roman" panose="02020603050405020304" pitchFamily="18" charset="0"/>
                <a:cs typeface="Times New Roman" panose="02020603050405020304" pitchFamily="18" charset="0"/>
              </a:rPr>
              <a:t>-Toe using AI in Python, we can create a simple game where a human player competes against an AI. The AI can use the </a:t>
            </a:r>
            <a:r>
              <a:rPr lang="en-US" sz="2400" dirty="0" err="1">
                <a:latin typeface="Times New Roman" panose="02020603050405020304" pitchFamily="18" charset="0"/>
                <a:cs typeface="Times New Roman" panose="02020603050405020304" pitchFamily="18" charset="0"/>
              </a:rPr>
              <a:t>Minmax</a:t>
            </a:r>
            <a:r>
              <a:rPr lang="en-US" sz="2400" dirty="0">
                <a:latin typeface="Times New Roman" panose="02020603050405020304" pitchFamily="18" charset="0"/>
                <a:cs typeface="Times New Roman" panose="02020603050405020304" pitchFamily="18" charset="0"/>
              </a:rPr>
              <a:t> algorithm to make optimal moves. </a:t>
            </a:r>
          </a:p>
          <a:p>
            <a:pPr marL="0" indent="0">
              <a:buNone/>
            </a:pPr>
            <a:r>
              <a:rPr lang="en-US" sz="2400" dirty="0">
                <a:latin typeface="Times New Roman" panose="02020603050405020304" pitchFamily="18" charset="0"/>
                <a:cs typeface="Times New Roman" panose="02020603050405020304" pitchFamily="18" charset="0"/>
              </a:rPr>
              <a:t>The AI considers two outcomes: </a:t>
            </a:r>
          </a:p>
          <a:p>
            <a:pPr marL="0" indent="0"/>
            <a:r>
              <a:rPr lang="en-US" sz="2400" dirty="0">
                <a:latin typeface="Times New Roman" panose="02020603050405020304" pitchFamily="18" charset="0"/>
                <a:cs typeface="Times New Roman" panose="02020603050405020304" pitchFamily="18" charset="0"/>
              </a:rPr>
              <a:t>If the AI wins: This is the best possible outcome for the AI, and </a:t>
            </a:r>
            <a:r>
              <a:rPr lang="en-US" sz="2400" dirty="0" err="1">
                <a:latin typeface="Times New Roman" panose="02020603050405020304" pitchFamily="18" charset="0"/>
                <a:cs typeface="Times New Roman" panose="02020603050405020304" pitchFamily="18" charset="0"/>
              </a:rPr>
              <a:t>Minmax</a:t>
            </a:r>
            <a:r>
              <a:rPr lang="en-US" sz="2400" dirty="0">
                <a:latin typeface="Times New Roman" panose="02020603050405020304" pitchFamily="18" charset="0"/>
                <a:cs typeface="Times New Roman" panose="02020603050405020304" pitchFamily="18" charset="0"/>
              </a:rPr>
              <a:t> will assign a score of +1 to that outcome. </a:t>
            </a:r>
          </a:p>
          <a:p>
            <a:pPr marL="0" indent="0"/>
            <a:r>
              <a:rPr lang="en-US" sz="2400" dirty="0">
                <a:latin typeface="Times New Roman" panose="02020603050405020304" pitchFamily="18" charset="0"/>
                <a:cs typeface="Times New Roman" panose="02020603050405020304" pitchFamily="18" charset="0"/>
              </a:rPr>
              <a:t>If the AI loses: This is the worst outcome for the AI, and it will assign a score of -1.</a:t>
            </a:r>
          </a:p>
          <a:p>
            <a:pPr marL="0" indent="0"/>
            <a:r>
              <a:rPr lang="en-US" sz="2400" dirty="0">
                <a:latin typeface="Times New Roman" panose="02020603050405020304" pitchFamily="18" charset="0"/>
                <a:cs typeface="Times New Roman" panose="02020603050405020304" pitchFamily="18" charset="0"/>
              </a:rPr>
              <a:t> If the game ends in a draw: This is a neutral outcome, and </a:t>
            </a:r>
            <a:r>
              <a:rPr lang="en-US" sz="2400" dirty="0" err="1">
                <a:latin typeface="Times New Roman" panose="02020603050405020304" pitchFamily="18" charset="0"/>
                <a:cs typeface="Times New Roman" panose="02020603050405020304" pitchFamily="18" charset="0"/>
              </a:rPr>
              <a:t>Minmax</a:t>
            </a:r>
            <a:r>
              <a:rPr lang="en-US" sz="2400" dirty="0">
                <a:latin typeface="Times New Roman" panose="02020603050405020304" pitchFamily="18" charset="0"/>
                <a:cs typeface="Times New Roman" panose="02020603050405020304" pitchFamily="18" charset="0"/>
              </a:rPr>
              <a:t> will assign a score of 0. The AI looks ahead at all possible moves and tries to minimize the maximum possible loss (hence "</a:t>
            </a:r>
            <a:r>
              <a:rPr lang="en-US" sz="2400" dirty="0" err="1">
                <a:latin typeface="Times New Roman" panose="02020603050405020304" pitchFamily="18" charset="0"/>
                <a:cs typeface="Times New Roman" panose="02020603050405020304" pitchFamily="18" charset="0"/>
              </a:rPr>
              <a:t>Minmax</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5070"/>
            <a:ext cx="10972800" cy="457200"/>
          </a:xfrm>
        </p:spPr>
        <p:txBody>
          <a:bodyPr>
            <a:normAutofit fontScale="90000"/>
          </a:bodyPr>
          <a:lstStyle/>
          <a:p>
            <a:pPr algn="l"/>
            <a:r>
              <a:rPr lang="en-IN" sz="3200" b="1" dirty="0">
                <a:solidFill>
                  <a:srgbClr val="FF0000"/>
                </a:solidFill>
                <a:latin typeface="Times New Roman" panose="02020603050405020304" pitchFamily="18" charset="0"/>
                <a:cs typeface="Times New Roman" panose="02020603050405020304" pitchFamily="18" charset="0"/>
              </a:rPr>
              <a:t>CODE:</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609600" y="1262380"/>
            <a:ext cx="6169025" cy="5444490"/>
          </a:xfrm>
        </p:spPr>
        <p:txBody>
          <a:bodyPr>
            <a:noAutofit/>
          </a:bodyPr>
          <a:lstStyle/>
          <a:p>
            <a:pPr marL="0" indent="0">
              <a:buNone/>
            </a:pPr>
            <a:r>
              <a:rPr lang="en-US" sz="1400" dirty="0">
                <a:latin typeface="Times New Roman" panose="02020603050405020304" pitchFamily="18" charset="0"/>
                <a:cs typeface="Times New Roman" panose="02020603050405020304" pitchFamily="18" charset="0"/>
              </a:rPr>
              <a:t>import random</a:t>
            </a:r>
          </a:p>
          <a:p>
            <a:pPr marL="0" indent="0">
              <a:buNone/>
            </a:pPr>
            <a:r>
              <a:rPr lang="en-US" sz="1400" dirty="0">
                <a:latin typeface="Times New Roman" panose="02020603050405020304" pitchFamily="18" charset="0"/>
                <a:cs typeface="Times New Roman" panose="02020603050405020304" pitchFamily="18" charset="0"/>
              </a:rPr>
              <a:t>class TicTacToe:</a:t>
            </a:r>
          </a:p>
          <a:p>
            <a:pPr marL="0" indent="0">
              <a:buNone/>
            </a:pPr>
            <a:r>
              <a:rPr lang="en-US" sz="1400" dirty="0">
                <a:latin typeface="Times New Roman" panose="02020603050405020304" pitchFamily="18" charset="0"/>
                <a:cs typeface="Times New Roman" panose="02020603050405020304" pitchFamily="18" charset="0"/>
              </a:rPr>
              <a:t>def _init_(self):  # Corrected constructor</a:t>
            </a:r>
          </a:p>
          <a:p>
            <a:pPr marL="0" indent="0">
              <a:buNone/>
            </a:pPr>
            <a:r>
              <a:rPr lang="en-US" sz="1400" dirty="0">
                <a:latin typeface="Times New Roman" panose="02020603050405020304" pitchFamily="18" charset="0"/>
                <a:cs typeface="Times New Roman" panose="02020603050405020304" pitchFamily="18" charset="0"/>
              </a:rPr>
              <a:t>self.board = []</a:t>
            </a:r>
          </a:p>
          <a:p>
            <a:pPr marL="0" indent="0">
              <a:buNone/>
            </a:pPr>
            <a:r>
              <a:rPr lang="en-US" sz="1400" dirty="0">
                <a:latin typeface="Times New Roman" panose="02020603050405020304" pitchFamily="18" charset="0"/>
                <a:cs typeface="Times New Roman" panose="02020603050405020304" pitchFamily="18" charset="0"/>
              </a:rPr>
              <a:t>self.human_player = 'X'  # Human is 'X'</a:t>
            </a:r>
          </a:p>
          <a:p>
            <a:pPr marL="0" indent="0">
              <a:buNone/>
            </a:pPr>
            <a:r>
              <a:rPr lang="en-US" sz="1400" dirty="0">
                <a:latin typeface="Times New Roman" panose="02020603050405020304" pitchFamily="18" charset="0"/>
                <a:cs typeface="Times New Roman" panose="02020603050405020304" pitchFamily="18" charset="0"/>
              </a:rPr>
              <a:t>self.ai_player = 'O'  # AI is 'O'</a:t>
            </a:r>
          </a:p>
          <a:p>
            <a:pPr marL="0" indent="0">
              <a:buNone/>
            </a:pPr>
            <a:r>
              <a:rPr lang="en-US" sz="1400" dirty="0">
                <a:latin typeface="Times New Roman" panose="02020603050405020304" pitchFamily="18" charset="0"/>
                <a:cs typeface="Times New Roman" panose="02020603050405020304" pitchFamily="18" charset="0"/>
              </a:rPr>
              <a:t>    def create_board(self):</a:t>
            </a:r>
          </a:p>
          <a:p>
            <a:pPr marL="0" indent="0">
              <a:buNone/>
            </a:pPr>
            <a:r>
              <a:rPr lang="en-US" sz="1400" dirty="0">
                <a:latin typeface="Times New Roman" panose="02020603050405020304" pitchFamily="18" charset="0"/>
                <a:cs typeface="Times New Roman" panose="02020603050405020304" pitchFamily="18" charset="0"/>
              </a:rPr>
              <a:t>self.board = []  # Reset board for a fresh game</a:t>
            </a:r>
          </a:p>
          <a:p>
            <a:pPr marL="0" indent="0">
              <a:buNone/>
            </a:pPr>
            <a:r>
              <a:rPr lang="en-US" sz="1400" dirty="0">
                <a:latin typeface="Times New Roman" panose="02020603050405020304" pitchFamily="18" charset="0"/>
                <a:cs typeface="Times New Roman" panose="02020603050405020304" pitchFamily="18" charset="0"/>
              </a:rPr>
              <a:t>        for i in range(3):</a:t>
            </a:r>
          </a:p>
          <a:p>
            <a:pPr marL="0" indent="0">
              <a:buNone/>
            </a:pPr>
            <a:r>
              <a:rPr lang="en-US" sz="1400" dirty="0">
                <a:latin typeface="Times New Roman" panose="02020603050405020304" pitchFamily="18" charset="0"/>
                <a:cs typeface="Times New Roman" panose="02020603050405020304" pitchFamily="18" charset="0"/>
              </a:rPr>
              <a:t>            row = []</a:t>
            </a:r>
          </a:p>
          <a:p>
            <a:pPr marL="0" indent="0">
              <a:buNone/>
            </a:pPr>
            <a:r>
              <a:rPr lang="en-US" sz="1400" dirty="0">
                <a:latin typeface="Times New Roman" panose="02020603050405020304" pitchFamily="18" charset="0"/>
                <a:cs typeface="Times New Roman" panose="02020603050405020304" pitchFamily="18" charset="0"/>
              </a:rPr>
              <a:t>            for j in range(3):</a:t>
            </a:r>
          </a:p>
          <a:p>
            <a:pPr marL="0" indent="0">
              <a:buNone/>
            </a:pPr>
            <a:r>
              <a:rPr lang="en-US" sz="1400" dirty="0">
                <a:latin typeface="Times New Roman" panose="02020603050405020304" pitchFamily="18" charset="0"/>
                <a:cs typeface="Times New Roman" panose="02020603050405020304" pitchFamily="18" charset="0"/>
              </a:rPr>
              <a:t>row.append('-')</a:t>
            </a:r>
          </a:p>
          <a:p>
            <a:pPr marL="0" indent="0">
              <a:buNone/>
            </a:pPr>
            <a:r>
              <a:rPr lang="en-US" sz="1400" dirty="0">
                <a:latin typeface="Times New Roman" panose="02020603050405020304" pitchFamily="18" charset="0"/>
                <a:cs typeface="Times New Roman" panose="02020603050405020304" pitchFamily="18" charset="0"/>
              </a:rPr>
              <a:t>self.board.append(row)</a:t>
            </a:r>
          </a:p>
          <a:p>
            <a:pPr marL="0" indent="0">
              <a:buNone/>
            </a:pPr>
            <a:r>
              <a:rPr lang="en-US" sz="1400" dirty="0">
                <a:latin typeface="Times New Roman" panose="02020603050405020304" pitchFamily="18" charset="0"/>
                <a:cs typeface="Times New Roman" panose="02020603050405020304" pitchFamily="18" charset="0"/>
              </a:rPr>
              <a:t>    def get_random_first_player(self):</a:t>
            </a:r>
          </a:p>
          <a:p>
            <a:pPr marL="0" indent="0">
              <a:buNone/>
            </a:pPr>
            <a:r>
              <a:rPr lang="en-US" sz="1400" dirty="0">
                <a:latin typeface="Times New Roman" panose="02020603050405020304" pitchFamily="18" charset="0"/>
                <a:cs typeface="Times New Roman" panose="02020603050405020304" pitchFamily="18" charset="0"/>
              </a:rPr>
              <a:t>        return random.randint(0, 1)</a:t>
            </a:r>
          </a:p>
          <a:p>
            <a:pPr marL="0" indent="0">
              <a:buNone/>
            </a:pPr>
            <a:r>
              <a:rPr lang="en-US" sz="1400" dirty="0">
                <a:latin typeface="Times New Roman" panose="02020603050405020304" pitchFamily="18" charset="0"/>
                <a:cs typeface="Times New Roman" panose="02020603050405020304" pitchFamily="18" charset="0"/>
              </a:rPr>
              <a:t>    def fix_spot(self, row, col, player):</a:t>
            </a:r>
          </a:p>
          <a:p>
            <a:pPr marL="0" indent="0">
              <a:buNone/>
            </a:pPr>
            <a:r>
              <a:rPr lang="en-US" sz="1400" dirty="0">
                <a:latin typeface="Times New Roman" panose="02020603050405020304" pitchFamily="18" charset="0"/>
                <a:cs typeface="Times New Roman" panose="02020603050405020304" pitchFamily="18" charset="0"/>
              </a:rPr>
              <a:t>self.board[row][col] = player</a:t>
            </a:r>
          </a:p>
          <a:p>
            <a:pPr marL="0" indent="0">
              <a:buNone/>
            </a:pPr>
            <a:r>
              <a:rPr lang="en-US" sz="1400" dirty="0">
                <a:latin typeface="Times New Roman" panose="02020603050405020304" pitchFamily="18" charset="0"/>
                <a:cs typeface="Times New Roman" panose="02020603050405020304" pitchFamily="18" charset="0"/>
              </a:rPr>
              <a:t>    def is_player_win(self, player):</a:t>
            </a:r>
          </a:p>
          <a:p>
            <a:pPr marL="0" indent="0">
              <a:buNone/>
            </a:pPr>
            <a:r>
              <a:rPr lang="en-US" sz="1400" dirty="0">
                <a:latin typeface="Times New Roman" panose="02020603050405020304" pitchFamily="18" charset="0"/>
                <a:cs typeface="Times New Roman" panose="02020603050405020304" pitchFamily="18" charset="0"/>
              </a:rPr>
              <a:t>        n = len(self.board)</a:t>
            </a:r>
          </a:p>
          <a:p>
            <a:pPr marL="0" indent="0">
              <a:buNone/>
            </a:pPr>
            <a:r>
              <a:rPr lang="en-US" sz="1400" dirty="0">
                <a:latin typeface="Times New Roman" panose="02020603050405020304" pitchFamily="18" charset="0"/>
                <a:cs typeface="Times New Roman" panose="02020603050405020304" pitchFamily="18" charset="0"/>
              </a:rPr>
              <a:t>        # checking rows</a:t>
            </a:r>
          </a:p>
          <a:p>
            <a:pPr marL="0" indent="0">
              <a:buNone/>
            </a:pPr>
            <a:r>
              <a:rPr lang="en-US" sz="1400" dirty="0">
                <a:latin typeface="Times New Roman" panose="02020603050405020304" pitchFamily="18" charset="0"/>
                <a:cs typeface="Times New Roman" panose="02020603050405020304" pitchFamily="18" charset="0"/>
              </a:rPr>
              <a:t>        for i in range(n):</a:t>
            </a:r>
          </a:p>
        </p:txBody>
      </p:sp>
      <p:sp>
        <p:nvSpPr>
          <p:cNvPr id="6" name="Content Placeholder 5"/>
          <p:cNvSpPr>
            <a:spLocks noGrp="1"/>
          </p:cNvSpPr>
          <p:nvPr>
            <p:ph sz="half" idx="2"/>
          </p:nvPr>
        </p:nvSpPr>
        <p:spPr>
          <a:xfrm>
            <a:off x="5781675" y="864705"/>
            <a:ext cx="5897245" cy="5993296"/>
          </a:xfrm>
        </p:spPr>
        <p:txBody>
          <a:bodyPr>
            <a:noAutofit/>
          </a:bodyPr>
          <a:lstStyle/>
          <a:p>
            <a:pPr marL="0" indent="0">
              <a:buNone/>
            </a:pPr>
            <a:endParaRPr lang="en-US" sz="14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5070"/>
            <a:ext cx="10972800" cy="457200"/>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p:cNvSpPr>
            <a:spLocks noGrp="1"/>
          </p:cNvSpPr>
          <p:nvPr>
            <p:ph sz="half" idx="1"/>
          </p:nvPr>
        </p:nvSpPr>
        <p:spPr>
          <a:xfrm>
            <a:off x="609600" y="1262379"/>
            <a:ext cx="6169025" cy="5854037"/>
          </a:xfrm>
        </p:spPr>
        <p:txBody>
          <a:bodyPr>
            <a:noAutofit/>
          </a:bodyPr>
          <a:lstStyle/>
          <a:p>
            <a:pPr marL="0" indent="0">
              <a:buNone/>
            </a:pPr>
            <a:r>
              <a:rPr lang="en-US" sz="1400" dirty="0">
                <a:latin typeface="Times New Roman" pitchFamily="18" charset="0"/>
                <a:cs typeface="Times New Roman" pitchFamily="18" charset="0"/>
              </a:rPr>
              <a:t>if all(</a:t>
            </a:r>
            <a:r>
              <a:rPr lang="en-US" sz="1400" dirty="0" err="1">
                <a:latin typeface="Times New Roman" pitchFamily="18" charset="0"/>
                <a:cs typeface="Times New Roman" pitchFamily="18" charset="0"/>
              </a:rPr>
              <a:t>self.board</a:t>
            </a:r>
            <a:r>
              <a:rPr lang="en-US" sz="1400" dirty="0">
                <a:latin typeface="Times New Roman" pitchFamily="18" charset="0"/>
                <a:cs typeface="Times New Roman" pitchFamily="18" charset="0"/>
              </a:rPr>
              <a:t>[</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][j] == player for j in range(n)):</a:t>
            </a:r>
          </a:p>
          <a:p>
            <a:pPr marL="0" indent="0">
              <a:buNone/>
            </a:pPr>
            <a:r>
              <a:rPr lang="en-US" sz="1400" dirty="0">
                <a:latin typeface="Times New Roman" pitchFamily="18" charset="0"/>
                <a:cs typeface="Times New Roman" pitchFamily="18" charset="0"/>
              </a:rPr>
              <a:t>                return True</a:t>
            </a:r>
          </a:p>
          <a:p>
            <a:pPr marL="0" indent="0">
              <a:buNone/>
            </a:pPr>
            <a:r>
              <a:rPr lang="en-US" sz="1400" dirty="0">
                <a:latin typeface="Times New Roman" pitchFamily="18" charset="0"/>
                <a:cs typeface="Times New Roman" pitchFamily="18" charset="0"/>
              </a:rPr>
              <a:t>        for </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in range(n):   #checking columns</a:t>
            </a:r>
          </a:p>
          <a:p>
            <a:pPr marL="0" indent="0">
              <a:buNone/>
            </a:pPr>
            <a:r>
              <a:rPr lang="en-US" sz="1400" dirty="0">
                <a:latin typeface="Times New Roman" pitchFamily="18" charset="0"/>
                <a:cs typeface="Times New Roman" pitchFamily="18" charset="0"/>
              </a:rPr>
              <a:t>            if all(</a:t>
            </a:r>
            <a:r>
              <a:rPr lang="en-US" sz="1400" dirty="0" err="1">
                <a:latin typeface="Times New Roman" pitchFamily="18" charset="0"/>
                <a:cs typeface="Times New Roman" pitchFamily="18" charset="0"/>
              </a:rPr>
              <a:t>self.board</a:t>
            </a:r>
            <a:r>
              <a:rPr lang="en-US" sz="1400" dirty="0">
                <a:latin typeface="Times New Roman" pitchFamily="18" charset="0"/>
                <a:cs typeface="Times New Roman" pitchFamily="18" charset="0"/>
              </a:rPr>
              <a:t>[j][</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 player for j in range(n)):</a:t>
            </a:r>
          </a:p>
          <a:p>
            <a:pPr marL="0" indent="0">
              <a:buNone/>
            </a:pPr>
            <a:r>
              <a:rPr lang="en-US" sz="1400" dirty="0">
                <a:latin typeface="Times New Roman" pitchFamily="18" charset="0"/>
                <a:cs typeface="Times New Roman" pitchFamily="18" charset="0"/>
              </a:rPr>
              <a:t>                return True</a:t>
            </a:r>
          </a:p>
          <a:p>
            <a:pPr marL="0" indent="0">
              <a:buNone/>
            </a:pPr>
            <a:r>
              <a:rPr lang="en-US" sz="1400" dirty="0">
                <a:latin typeface="Times New Roman" pitchFamily="18" charset="0"/>
                <a:cs typeface="Times New Roman" pitchFamily="18" charset="0"/>
              </a:rPr>
              <a:t>        if all(</a:t>
            </a:r>
            <a:r>
              <a:rPr lang="en-US" sz="1400" dirty="0" err="1">
                <a:latin typeface="Times New Roman" pitchFamily="18" charset="0"/>
                <a:cs typeface="Times New Roman" pitchFamily="18" charset="0"/>
              </a:rPr>
              <a:t>self.board</a:t>
            </a:r>
            <a:r>
              <a:rPr lang="en-US" sz="1400" dirty="0">
                <a:latin typeface="Times New Roman" pitchFamily="18" charset="0"/>
                <a:cs typeface="Times New Roman" pitchFamily="18" charset="0"/>
              </a:rPr>
              <a:t>[</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 player for </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in range(n)): # checking diagonals</a:t>
            </a:r>
          </a:p>
          <a:p>
            <a:pPr marL="0" indent="0">
              <a:buNone/>
            </a:pPr>
            <a:r>
              <a:rPr lang="en-US" sz="1400" dirty="0">
                <a:latin typeface="Times New Roman" pitchFamily="18" charset="0"/>
                <a:cs typeface="Times New Roman" pitchFamily="18" charset="0"/>
              </a:rPr>
              <a:t>            return True</a:t>
            </a:r>
          </a:p>
          <a:p>
            <a:pPr marL="0" indent="0">
              <a:buNone/>
            </a:pPr>
            <a:r>
              <a:rPr lang="en-US" sz="1400" dirty="0">
                <a:latin typeface="Times New Roman" pitchFamily="18" charset="0"/>
                <a:cs typeface="Times New Roman" pitchFamily="18" charset="0"/>
              </a:rPr>
              <a:t>        if all(</a:t>
            </a:r>
            <a:r>
              <a:rPr lang="en-US" sz="1400" dirty="0" err="1">
                <a:latin typeface="Times New Roman" pitchFamily="18" charset="0"/>
                <a:cs typeface="Times New Roman" pitchFamily="18" charset="0"/>
              </a:rPr>
              <a:t>self.board</a:t>
            </a:r>
            <a:r>
              <a:rPr lang="en-US" sz="1400" dirty="0">
                <a:latin typeface="Times New Roman" pitchFamily="18" charset="0"/>
                <a:cs typeface="Times New Roman" pitchFamily="18" charset="0"/>
              </a:rPr>
              <a:t>[</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][n - 1 - </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 player for </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in range(n)):</a:t>
            </a:r>
          </a:p>
          <a:p>
            <a:pPr marL="0" indent="0">
              <a:buNone/>
            </a:pPr>
            <a:r>
              <a:rPr lang="en-US" sz="1400" dirty="0">
                <a:latin typeface="Times New Roman" pitchFamily="18" charset="0"/>
                <a:cs typeface="Times New Roman" pitchFamily="18" charset="0"/>
              </a:rPr>
              <a:t>            return True</a:t>
            </a:r>
          </a:p>
          <a:p>
            <a:pPr marL="0" indent="0">
              <a:buNone/>
            </a:pPr>
            <a:r>
              <a:rPr lang="en-US" sz="1400" dirty="0">
                <a:latin typeface="Times New Roman" pitchFamily="18" charset="0"/>
                <a:cs typeface="Times New Roman" pitchFamily="18" charset="0"/>
              </a:rPr>
              <a:t>        return False</a:t>
            </a:r>
          </a:p>
          <a:p>
            <a:pPr marL="0" indent="0">
              <a:buNone/>
            </a:pPr>
            <a:r>
              <a:rPr lang="en-US" sz="1400" dirty="0">
                <a:latin typeface="Times New Roman" pitchFamily="18" charset="0"/>
                <a:cs typeface="Times New Roman" pitchFamily="18" charset="0"/>
              </a:rPr>
              <a:t>    def </a:t>
            </a:r>
            <a:r>
              <a:rPr lang="en-US" sz="1400" dirty="0" err="1">
                <a:latin typeface="Times New Roman" pitchFamily="18" charset="0"/>
                <a:cs typeface="Times New Roman" pitchFamily="18" charset="0"/>
              </a:rPr>
              <a:t>is_board_filled</a:t>
            </a:r>
            <a:r>
              <a:rPr lang="en-US" sz="1400" dirty="0">
                <a:latin typeface="Times New Roman" pitchFamily="18" charset="0"/>
                <a:cs typeface="Times New Roman" pitchFamily="18" charset="0"/>
              </a:rPr>
              <a:t>(self):</a:t>
            </a:r>
          </a:p>
          <a:p>
            <a:pPr marL="0" indent="0">
              <a:buNone/>
            </a:pPr>
            <a:r>
              <a:rPr lang="en-US" sz="1400" dirty="0">
                <a:latin typeface="Times New Roman" pitchFamily="18" charset="0"/>
                <a:cs typeface="Times New Roman" pitchFamily="18" charset="0"/>
              </a:rPr>
              <a:t>        for row in </a:t>
            </a:r>
            <a:r>
              <a:rPr lang="en-US" sz="1400" dirty="0" err="1">
                <a:latin typeface="Times New Roman" pitchFamily="18" charset="0"/>
                <a:cs typeface="Times New Roman" pitchFamily="18" charset="0"/>
              </a:rPr>
              <a:t>self.board</a:t>
            </a:r>
            <a:r>
              <a:rPr lang="en-US" sz="1400" dirty="0">
                <a:latin typeface="Times New Roman" pitchFamily="18" charset="0"/>
                <a:cs typeface="Times New Roman" pitchFamily="18" charset="0"/>
              </a:rPr>
              <a:t>:</a:t>
            </a:r>
          </a:p>
          <a:p>
            <a:pPr marL="0" indent="0">
              <a:buNone/>
            </a:pPr>
            <a:r>
              <a:rPr lang="en-US" sz="1400" dirty="0">
                <a:latin typeface="Times New Roman" pitchFamily="18" charset="0"/>
                <a:cs typeface="Times New Roman" pitchFamily="18" charset="0"/>
              </a:rPr>
              <a:t>            for item in row:</a:t>
            </a:r>
          </a:p>
          <a:p>
            <a:pPr marL="0" indent="0">
              <a:buNone/>
            </a:pPr>
            <a:r>
              <a:rPr lang="en-US" sz="1400" dirty="0">
                <a:latin typeface="Times New Roman" pitchFamily="18" charset="0"/>
                <a:cs typeface="Times New Roman" pitchFamily="18" charset="0"/>
              </a:rPr>
              <a:t>                if item == '-':</a:t>
            </a:r>
          </a:p>
          <a:p>
            <a:pPr marL="0" indent="0">
              <a:buNone/>
            </a:pPr>
            <a:r>
              <a:rPr lang="en-US" sz="1400" dirty="0">
                <a:latin typeface="Times New Roman" pitchFamily="18" charset="0"/>
                <a:cs typeface="Times New Roman" pitchFamily="18" charset="0"/>
              </a:rPr>
              <a:t>                    return False</a:t>
            </a:r>
          </a:p>
          <a:p>
            <a:pPr marL="0" indent="0">
              <a:buNone/>
            </a:pPr>
            <a:r>
              <a:rPr lang="en-US" sz="1400" dirty="0">
                <a:latin typeface="Times New Roman" pitchFamily="18" charset="0"/>
                <a:cs typeface="Times New Roman" pitchFamily="18" charset="0"/>
              </a:rPr>
              <a:t>        return True</a:t>
            </a:r>
          </a:p>
          <a:p>
            <a:pPr marL="0" indent="0">
              <a:buNone/>
            </a:pPr>
            <a:r>
              <a:rPr lang="en-US" sz="1400" dirty="0">
                <a:latin typeface="Times New Roman" pitchFamily="18" charset="0"/>
                <a:cs typeface="Times New Roman" pitchFamily="18" charset="0"/>
              </a:rPr>
              <a:t>    def </a:t>
            </a:r>
            <a:r>
              <a:rPr lang="en-US" sz="1400" dirty="0" err="1">
                <a:latin typeface="Times New Roman" pitchFamily="18" charset="0"/>
                <a:cs typeface="Times New Roman" pitchFamily="18" charset="0"/>
              </a:rPr>
              <a:t>swap_player_turn</a:t>
            </a:r>
            <a:r>
              <a:rPr lang="en-US" sz="1400" dirty="0">
                <a:latin typeface="Times New Roman" pitchFamily="18" charset="0"/>
                <a:cs typeface="Times New Roman" pitchFamily="18" charset="0"/>
              </a:rPr>
              <a:t>(self, player):</a:t>
            </a:r>
          </a:p>
          <a:p>
            <a:pPr marL="0" indent="0">
              <a:buNone/>
            </a:pPr>
            <a:r>
              <a:rPr lang="en-US" sz="1400" dirty="0">
                <a:latin typeface="Times New Roman" pitchFamily="18" charset="0"/>
                <a:cs typeface="Times New Roman" pitchFamily="18" charset="0"/>
              </a:rPr>
              <a:t>        return 'X' if player == 'O' else 'O'</a:t>
            </a:r>
          </a:p>
          <a:p>
            <a:pPr marL="0" indent="457200">
              <a:buNone/>
            </a:pPr>
            <a:r>
              <a:rPr lang="en-US" sz="1400" dirty="0">
                <a:latin typeface="Times New Roman" pitchFamily="18" charset="0"/>
                <a:cs typeface="Times New Roman" pitchFamily="18" charset="0"/>
              </a:rPr>
              <a:t>def </a:t>
            </a:r>
            <a:r>
              <a:rPr lang="en-US" sz="1400" dirty="0" err="1">
                <a:latin typeface="Times New Roman" pitchFamily="18" charset="0"/>
                <a:cs typeface="Times New Roman" pitchFamily="18" charset="0"/>
              </a:rPr>
              <a:t>show_board</a:t>
            </a:r>
            <a:r>
              <a:rPr lang="en-US" sz="1400" dirty="0">
                <a:latin typeface="Times New Roman" pitchFamily="18" charset="0"/>
                <a:cs typeface="Times New Roman" pitchFamily="18" charset="0"/>
              </a:rPr>
              <a:t>(self):</a:t>
            </a:r>
          </a:p>
          <a:p>
            <a:pPr marL="0" indent="457200">
              <a:buNone/>
            </a:pPr>
            <a:r>
              <a:rPr lang="en-US" sz="1400" dirty="0">
                <a:latin typeface="Times New Roman" pitchFamily="18" charset="0"/>
                <a:cs typeface="Times New Roman" pitchFamily="18" charset="0"/>
              </a:rPr>
              <a:t>        for row in </a:t>
            </a:r>
            <a:r>
              <a:rPr lang="en-US" sz="1400" dirty="0" err="1">
                <a:latin typeface="Times New Roman" pitchFamily="18" charset="0"/>
                <a:cs typeface="Times New Roman" pitchFamily="18" charset="0"/>
              </a:rPr>
              <a:t>self.board</a:t>
            </a:r>
            <a:r>
              <a:rPr lang="en-US" sz="1400" dirty="0">
                <a:latin typeface="Times New Roman" pitchFamily="18" charset="0"/>
                <a:cs typeface="Times New Roman" pitchFamily="18" charset="0"/>
              </a:rPr>
              <a:t>:</a:t>
            </a:r>
          </a:p>
          <a:p>
            <a:pPr marL="0" indent="457200">
              <a:buNone/>
            </a:pPr>
            <a:r>
              <a:rPr lang="en-US" sz="1400" dirty="0">
                <a:latin typeface="Times New Roman" pitchFamily="18" charset="0"/>
                <a:cs typeface="Times New Roman" pitchFamily="18" charset="0"/>
              </a:rPr>
              <a:t>            for item in row:</a:t>
            </a:r>
          </a:p>
          <a:p>
            <a:pPr marL="0" indent="0">
              <a:buNone/>
            </a:pPr>
            <a:endParaRPr lang="en-US" sz="1400" dirty="0">
              <a:latin typeface="Times New Roman" pitchFamily="18" charset="0"/>
              <a:cs typeface="Times New Roman" pitchFamily="18" charset="0"/>
            </a:endParaRPr>
          </a:p>
        </p:txBody>
      </p:sp>
      <p:sp>
        <p:nvSpPr>
          <p:cNvPr id="6" name="Content Placeholder 5"/>
          <p:cNvSpPr>
            <a:spLocks noGrp="1"/>
          </p:cNvSpPr>
          <p:nvPr>
            <p:ph sz="half" idx="2"/>
          </p:nvPr>
        </p:nvSpPr>
        <p:spPr>
          <a:xfrm>
            <a:off x="5781675" y="864705"/>
            <a:ext cx="5897245" cy="5993296"/>
          </a:xfrm>
        </p:spPr>
        <p:txBody>
          <a:bodyPr>
            <a:noAutofit/>
          </a:bodyPr>
          <a:lstStyle/>
          <a:p>
            <a:pPr marL="0" indent="0">
              <a:buNone/>
            </a:pPr>
            <a:r>
              <a:rPr lang="en-US" sz="1200" dirty="0"/>
              <a:t> </a:t>
            </a:r>
            <a:endParaRPr lang="en-US" sz="14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55983"/>
            <a:ext cx="10972800" cy="606288"/>
          </a:xfrm>
        </p:spPr>
        <p:txBody>
          <a:bodyPr>
            <a:normAutofit/>
          </a:bodyPr>
          <a:lstStyle/>
          <a:p>
            <a:pPr algn="l"/>
            <a:r>
              <a:rPr lang="en-US" sz="2400" b="1" dirty="0">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p:cNvSpPr>
            <a:spLocks noGrp="1"/>
          </p:cNvSpPr>
          <p:nvPr>
            <p:ph sz="half" idx="1"/>
          </p:nvPr>
        </p:nvSpPr>
        <p:spPr>
          <a:xfrm>
            <a:off x="609601" y="1262380"/>
            <a:ext cx="4906616" cy="5595620"/>
          </a:xfrm>
        </p:spPr>
        <p:txBody>
          <a:bodyPr>
            <a:noAutofit/>
          </a:bodyPr>
          <a:lstStyle/>
          <a:p>
            <a:pPr marL="0" indent="0">
              <a:buNone/>
            </a:pPr>
            <a:r>
              <a:rPr lang="en-US" sz="1400" dirty="0">
                <a:latin typeface="Times New Roman" panose="02020603050405020304" pitchFamily="18" charset="0"/>
                <a:cs typeface="Times New Roman" panose="02020603050405020304" pitchFamily="18" charset="0"/>
              </a:rPr>
              <a:t>print(item, end=" ")</a:t>
            </a:r>
          </a:p>
          <a:p>
            <a:pPr marL="0" indent="0">
              <a:buNone/>
            </a:pPr>
            <a:r>
              <a:rPr lang="en-US" sz="1400" dirty="0">
                <a:latin typeface="Times New Roman" panose="02020603050405020304" pitchFamily="18" charset="0"/>
                <a:cs typeface="Times New Roman" panose="02020603050405020304" pitchFamily="18" charset="0"/>
              </a:rPr>
              <a:t>print()</a:t>
            </a:r>
          </a:p>
          <a:p>
            <a:pPr marL="0" indent="0">
              <a:buNone/>
            </a:pPr>
            <a:r>
              <a:rPr lang="en-US" sz="1400" dirty="0">
                <a:latin typeface="Times New Roman" panose="02020603050405020304" pitchFamily="18" charset="0"/>
                <a:cs typeface="Times New Roman" panose="02020603050405020304" pitchFamily="18" charset="0"/>
              </a:rPr>
              <a:t>    def get_empty_spots(self):</a:t>
            </a:r>
          </a:p>
          <a:p>
            <a:pPr marL="0" indent="0">
              <a:buNone/>
            </a:pPr>
            <a:r>
              <a:rPr lang="en-US" sz="1400" dirty="0">
                <a:latin typeface="Times New Roman" panose="02020603050405020304" pitchFamily="18" charset="0"/>
                <a:cs typeface="Times New Roman" panose="02020603050405020304" pitchFamily="18" charset="0"/>
              </a:rPr>
              <a:t>empty_spots = []</a:t>
            </a:r>
          </a:p>
          <a:p>
            <a:pPr marL="0" indent="0">
              <a:buNone/>
            </a:pPr>
            <a:r>
              <a:rPr lang="en-US" sz="1400" dirty="0">
                <a:latin typeface="Times New Roman" panose="02020603050405020304" pitchFamily="18" charset="0"/>
                <a:cs typeface="Times New Roman" panose="02020603050405020304" pitchFamily="18" charset="0"/>
              </a:rPr>
              <a:t>        for i in range(3):</a:t>
            </a:r>
          </a:p>
          <a:p>
            <a:pPr marL="0" indent="0">
              <a:buNone/>
            </a:pPr>
            <a:r>
              <a:rPr lang="en-US" sz="1400" dirty="0">
                <a:latin typeface="Times New Roman" panose="02020603050405020304" pitchFamily="18" charset="0"/>
                <a:cs typeface="Times New Roman" panose="02020603050405020304" pitchFamily="18" charset="0"/>
              </a:rPr>
              <a:t>            for j in range(3):</a:t>
            </a:r>
          </a:p>
          <a:p>
            <a:pPr marL="0" indent="0">
              <a:buNone/>
            </a:pPr>
            <a:r>
              <a:rPr lang="en-US" sz="1400" dirty="0">
                <a:latin typeface="Times New Roman" panose="02020603050405020304" pitchFamily="18" charset="0"/>
                <a:cs typeface="Times New Roman" panose="02020603050405020304" pitchFamily="18" charset="0"/>
              </a:rPr>
              <a:t>                if self.board[i][j] == '-':</a:t>
            </a:r>
          </a:p>
          <a:p>
            <a:pPr marL="0" indent="0">
              <a:buNone/>
            </a:pPr>
            <a:r>
              <a:rPr lang="en-US" sz="1400" dirty="0">
                <a:latin typeface="Times New Roman" panose="02020603050405020304" pitchFamily="18" charset="0"/>
                <a:cs typeface="Times New Roman" panose="02020603050405020304" pitchFamily="18" charset="0"/>
              </a:rPr>
              <a:t>empty_spots.append((i, j))</a:t>
            </a:r>
          </a:p>
          <a:p>
            <a:pPr marL="0" indent="0">
              <a:buNone/>
            </a:pPr>
            <a:r>
              <a:rPr lang="en-US" sz="1400" dirty="0">
                <a:latin typeface="Times New Roman" panose="02020603050405020304" pitchFamily="18" charset="0"/>
                <a:cs typeface="Times New Roman" panose="02020603050405020304" pitchFamily="18" charset="0"/>
              </a:rPr>
              <a:t>        return empty_spots</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    # Minimax algorithm to evaluate best move for AI</a:t>
            </a:r>
          </a:p>
          <a:p>
            <a:pPr marL="0" indent="0">
              <a:buNone/>
            </a:pPr>
            <a:r>
              <a:rPr lang="en-US" sz="1400" dirty="0">
                <a:latin typeface="Times New Roman" panose="02020603050405020304" pitchFamily="18" charset="0"/>
                <a:cs typeface="Times New Roman" panose="02020603050405020304" pitchFamily="18" charset="0"/>
              </a:rPr>
              <a:t>    def minimax(self, is_maximizing):</a:t>
            </a:r>
          </a:p>
          <a:p>
            <a:pPr marL="0" indent="0">
              <a:buNone/>
            </a:pPr>
            <a:r>
              <a:rPr lang="en-US" sz="1400" dirty="0">
                <a:latin typeface="Times New Roman" panose="02020603050405020304" pitchFamily="18" charset="0"/>
                <a:cs typeface="Times New Roman" panose="02020603050405020304" pitchFamily="18" charset="0"/>
              </a:rPr>
              <a:t>        # Base cases: Check for terminal states (win/loss/draw)</a:t>
            </a:r>
          </a:p>
          <a:p>
            <a:pPr marL="0" indent="0">
              <a:buNone/>
            </a:pPr>
            <a:r>
              <a:rPr lang="en-US" sz="1400" dirty="0">
                <a:latin typeface="Times New Roman" panose="02020603050405020304" pitchFamily="18" charset="0"/>
                <a:cs typeface="Times New Roman" panose="02020603050405020304" pitchFamily="18" charset="0"/>
              </a:rPr>
              <a:t>        if self.is_player_win(self.ai_player):</a:t>
            </a:r>
          </a:p>
          <a:p>
            <a:pPr marL="0" indent="0">
              <a:buNone/>
            </a:pPr>
            <a:r>
              <a:rPr lang="en-US" sz="1400" dirty="0">
                <a:latin typeface="Times New Roman" panose="02020603050405020304" pitchFamily="18" charset="0"/>
                <a:cs typeface="Times New Roman" panose="02020603050405020304" pitchFamily="18" charset="0"/>
              </a:rPr>
              <a:t>            return 1</a:t>
            </a:r>
          </a:p>
          <a:p>
            <a:pPr marL="0" indent="0">
              <a:buNone/>
            </a:pPr>
            <a:r>
              <a:rPr lang="en-US" sz="1400" dirty="0">
                <a:latin typeface="Times New Roman" panose="02020603050405020304" pitchFamily="18" charset="0"/>
                <a:cs typeface="Times New Roman" panose="02020603050405020304" pitchFamily="18" charset="0"/>
              </a:rPr>
              <a:t>        if self.is_player_win(self.human_player):</a:t>
            </a:r>
          </a:p>
          <a:p>
            <a:pPr marL="0" indent="0">
              <a:buNone/>
            </a:pPr>
            <a:r>
              <a:rPr lang="en-US" sz="1400" dirty="0">
                <a:latin typeface="Times New Roman" panose="02020603050405020304" pitchFamily="18" charset="0"/>
                <a:cs typeface="Times New Roman" panose="02020603050405020304" pitchFamily="18" charset="0"/>
              </a:rPr>
              <a:t>            return -1</a:t>
            </a:r>
          </a:p>
          <a:p>
            <a:pPr marL="0" indent="0">
              <a:buNone/>
            </a:pPr>
            <a:r>
              <a:rPr lang="en-US" sz="1400" dirty="0">
                <a:latin typeface="Times New Roman" panose="02020603050405020304" pitchFamily="18" charset="0"/>
                <a:cs typeface="Times New Roman" panose="02020603050405020304" pitchFamily="18" charset="0"/>
              </a:rPr>
              <a:t>        if self.is_board_filled():</a:t>
            </a:r>
          </a:p>
          <a:p>
            <a:pPr marL="0" indent="0">
              <a:buNone/>
            </a:pPr>
            <a:r>
              <a:rPr lang="en-US" sz="1400" dirty="0">
                <a:latin typeface="Times New Roman" panose="02020603050405020304" pitchFamily="18" charset="0"/>
                <a:cs typeface="Times New Roman" panose="02020603050405020304" pitchFamily="18" charset="0"/>
              </a:rPr>
              <a:t>            return 0</a:t>
            </a:r>
          </a:p>
          <a:p>
            <a:pPr marL="0" indent="0">
              <a:buNone/>
            </a:pPr>
            <a:r>
              <a:rPr lang="en-US" sz="1400" dirty="0">
                <a:latin typeface="Times New Roman" panose="02020603050405020304" pitchFamily="18" charset="0"/>
                <a:cs typeface="Times New Roman" panose="02020603050405020304" pitchFamily="18" charset="0"/>
              </a:rPr>
              <a:t>       if </a:t>
            </a:r>
            <a:r>
              <a:rPr lang="en-US" sz="1400" dirty="0" err="1">
                <a:latin typeface="Times New Roman" panose="02020603050405020304" pitchFamily="18" charset="0"/>
                <a:cs typeface="Times New Roman" panose="02020603050405020304" pitchFamily="18" charset="0"/>
              </a:rPr>
              <a:t>is_maximizing</a:t>
            </a:r>
            <a:r>
              <a:rPr lang="en-US" sz="1400" dirty="0">
                <a:latin typeface="Times New Roman" panose="02020603050405020304" pitchFamily="18" charset="0"/>
                <a:cs typeface="Times New Roman" panose="02020603050405020304" pitchFamily="18" charset="0"/>
              </a:rPr>
              <a:t>:   # Maximizing player's move (AI)</a:t>
            </a:r>
          </a:p>
          <a:p>
            <a:pPr marL="0" indent="0">
              <a:buNone/>
            </a:pPr>
            <a:r>
              <a:rPr lang="en-US" sz="1400" dirty="0">
                <a:latin typeface="Times New Roman" panose="02020603050405020304" pitchFamily="18" charset="0"/>
                <a:cs typeface="Times New Roman" panose="02020603050405020304" pitchFamily="18" charset="0"/>
              </a:rPr>
              <a:t>            if score &gt;best_score:</a:t>
            </a:r>
          </a:p>
          <a:p>
            <a:pPr marL="0" indent="0">
              <a:buNone/>
            </a:pPr>
            <a:endParaRPr lang="en-US" sz="14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sz="half" idx="2"/>
          </p:nvPr>
        </p:nvSpPr>
        <p:spPr>
          <a:xfrm>
            <a:off x="5781675" y="834887"/>
            <a:ext cx="5897245" cy="6023113"/>
          </a:xfrm>
        </p:spPr>
        <p:txBody>
          <a:bodyPr>
            <a:noAutofit/>
          </a:bodyPr>
          <a:lstStyle/>
          <a:p>
            <a:pPr marL="0" indent="0">
              <a:buNone/>
            </a:pP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55983"/>
            <a:ext cx="10972800" cy="546652"/>
          </a:xfrm>
        </p:spPr>
        <p:txBody>
          <a:bodyPr>
            <a:normAutofit/>
          </a:bodyPr>
          <a:lstStyle/>
          <a:p>
            <a:pPr algn="l"/>
            <a:r>
              <a:rPr lang="en-US" sz="2400" b="1" dirty="0">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p:cNvSpPr>
            <a:spLocks noGrp="1"/>
          </p:cNvSpPr>
          <p:nvPr>
            <p:ph sz="half" idx="1"/>
          </p:nvPr>
        </p:nvSpPr>
        <p:spPr>
          <a:xfrm>
            <a:off x="665922" y="1192696"/>
            <a:ext cx="5088834" cy="5665304"/>
          </a:xfrm>
        </p:spPr>
        <p:txBody>
          <a:bodyPr>
            <a:noAutofit/>
          </a:bodyPr>
          <a:lstStyle/>
          <a:p>
            <a:pPr marL="0" indent="0">
              <a:buNone/>
            </a:pP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 -float('</a:t>
            </a:r>
            <a:r>
              <a:rPr lang="en-US" sz="1400" dirty="0" err="1">
                <a:latin typeface="Times New Roman" panose="02020603050405020304" pitchFamily="18" charset="0"/>
                <a:cs typeface="Times New Roman" panose="02020603050405020304" pitchFamily="18" charset="0"/>
                <a:sym typeface="+mn-ea"/>
              </a:rPr>
              <a:t>inf</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for (row, </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in </a:t>
            </a:r>
            <a:r>
              <a:rPr lang="en-US" sz="1400" dirty="0" err="1">
                <a:latin typeface="Times New Roman" panose="02020603050405020304" pitchFamily="18" charset="0"/>
                <a:cs typeface="Times New Roman" panose="02020603050405020304" pitchFamily="18" charset="0"/>
                <a:sym typeface="+mn-ea"/>
              </a:rPr>
              <a:t>self.get_empty_spots</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self.board</a:t>
            </a:r>
            <a:r>
              <a:rPr lang="en-US" sz="1400" dirty="0">
                <a:latin typeface="Times New Roman" panose="02020603050405020304" pitchFamily="18" charset="0"/>
                <a:cs typeface="Times New Roman" panose="02020603050405020304" pitchFamily="18" charset="0"/>
                <a:sym typeface="+mn-ea"/>
              </a:rPr>
              <a:t>[row][</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a:t>
            </a:r>
            <a:r>
              <a:rPr lang="en-US" sz="1400" dirty="0" err="1">
                <a:latin typeface="Times New Roman" panose="02020603050405020304" pitchFamily="18" charset="0"/>
                <a:cs typeface="Times New Roman" panose="02020603050405020304" pitchFamily="18" charset="0"/>
                <a:sym typeface="+mn-ea"/>
              </a:rPr>
              <a:t>self.ai_player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score = </a:t>
            </a:r>
            <a:r>
              <a:rPr lang="en-US" sz="1400" dirty="0" err="1">
                <a:latin typeface="Times New Roman" panose="02020603050405020304" pitchFamily="18" charset="0"/>
                <a:cs typeface="Times New Roman" panose="02020603050405020304" pitchFamily="18" charset="0"/>
                <a:sym typeface="+mn-ea"/>
              </a:rPr>
              <a:t>self.minimax</a:t>
            </a:r>
            <a:r>
              <a:rPr lang="en-US" sz="1400" dirty="0">
                <a:latin typeface="Times New Roman" panose="02020603050405020304" pitchFamily="18" charset="0"/>
                <a:cs typeface="Times New Roman" panose="02020603050405020304" pitchFamily="18" charset="0"/>
                <a:sym typeface="+mn-ea"/>
              </a:rPr>
              <a:t>(False)  # Minimize opponent's score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self.board</a:t>
            </a:r>
            <a:r>
              <a:rPr lang="en-US" sz="1400" dirty="0">
                <a:latin typeface="Times New Roman" panose="02020603050405020304" pitchFamily="18" charset="0"/>
                <a:cs typeface="Times New Roman" panose="02020603050405020304" pitchFamily="18" charset="0"/>
                <a:sym typeface="+mn-ea"/>
              </a:rPr>
              <a:t>[row][</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  # Undo move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 max(</a:t>
            </a: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score)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return </a:t>
            </a:r>
            <a:r>
              <a:rPr lang="en-US" sz="1400" dirty="0" err="1">
                <a:latin typeface="Times New Roman" panose="02020603050405020304" pitchFamily="18" charset="0"/>
                <a:cs typeface="Times New Roman" panose="02020603050405020304" pitchFamily="18" charset="0"/>
                <a:sym typeface="+mn-ea"/>
              </a:rPr>
              <a:t>best_score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else: # Minimizing player's move (Human)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 float('</a:t>
            </a:r>
            <a:r>
              <a:rPr lang="en-US" sz="1400" dirty="0" err="1">
                <a:latin typeface="Times New Roman" panose="02020603050405020304" pitchFamily="18" charset="0"/>
                <a:cs typeface="Times New Roman" panose="02020603050405020304" pitchFamily="18" charset="0"/>
                <a:sym typeface="+mn-ea"/>
              </a:rPr>
              <a:t>inf</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for (row, </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in </a:t>
            </a:r>
            <a:r>
              <a:rPr lang="en-US" sz="1400" dirty="0" err="1">
                <a:latin typeface="Times New Roman" panose="02020603050405020304" pitchFamily="18" charset="0"/>
                <a:cs typeface="Times New Roman" panose="02020603050405020304" pitchFamily="18" charset="0"/>
                <a:sym typeface="+mn-ea"/>
              </a:rPr>
              <a:t>self.get_empty_spots</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self.board</a:t>
            </a:r>
            <a:r>
              <a:rPr lang="en-US" sz="1400" dirty="0">
                <a:latin typeface="Times New Roman" panose="02020603050405020304" pitchFamily="18" charset="0"/>
                <a:cs typeface="Times New Roman" panose="02020603050405020304" pitchFamily="18" charset="0"/>
                <a:sym typeface="+mn-ea"/>
              </a:rPr>
              <a:t>[row][</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a:t>
            </a:r>
            <a:r>
              <a:rPr lang="en-US" sz="1400" dirty="0" err="1">
                <a:latin typeface="Times New Roman" panose="02020603050405020304" pitchFamily="18" charset="0"/>
                <a:cs typeface="Times New Roman" panose="02020603050405020304" pitchFamily="18" charset="0"/>
                <a:sym typeface="+mn-ea"/>
              </a:rPr>
              <a:t>self.human_player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score = </a:t>
            </a:r>
            <a:r>
              <a:rPr lang="en-US" sz="1400" dirty="0" err="1">
                <a:latin typeface="Times New Roman" panose="02020603050405020304" pitchFamily="18" charset="0"/>
                <a:cs typeface="Times New Roman" panose="02020603050405020304" pitchFamily="18" charset="0"/>
                <a:sym typeface="+mn-ea"/>
              </a:rPr>
              <a:t>self.minimax</a:t>
            </a:r>
            <a:r>
              <a:rPr lang="en-US" sz="1400" dirty="0">
                <a:latin typeface="Times New Roman" panose="02020603050405020304" pitchFamily="18" charset="0"/>
                <a:cs typeface="Times New Roman" panose="02020603050405020304" pitchFamily="18" charset="0"/>
                <a:sym typeface="+mn-ea"/>
              </a:rPr>
              <a:t>(True)  # Maximize AI's score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self.board</a:t>
            </a:r>
            <a:r>
              <a:rPr lang="en-US" sz="1400" dirty="0">
                <a:latin typeface="Times New Roman" panose="02020603050405020304" pitchFamily="18" charset="0"/>
                <a:cs typeface="Times New Roman" panose="02020603050405020304" pitchFamily="18" charset="0"/>
                <a:sym typeface="+mn-ea"/>
              </a:rPr>
              <a:t>[row][</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  # Undo move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 min(</a:t>
            </a: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score)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return </a:t>
            </a:r>
            <a:r>
              <a:rPr lang="en-US" sz="1400" dirty="0" err="1">
                <a:latin typeface="Times New Roman" panose="02020603050405020304" pitchFamily="18" charset="0"/>
                <a:cs typeface="Times New Roman" panose="02020603050405020304" pitchFamily="18" charset="0"/>
                <a:sym typeface="+mn-ea"/>
              </a:rPr>
              <a:t>best_score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def </a:t>
            </a:r>
            <a:r>
              <a:rPr lang="en-US" sz="1400" dirty="0" err="1">
                <a:latin typeface="Times New Roman" panose="02020603050405020304" pitchFamily="18" charset="0"/>
                <a:cs typeface="Times New Roman" panose="02020603050405020304" pitchFamily="18" charset="0"/>
                <a:sym typeface="+mn-ea"/>
              </a:rPr>
              <a:t>ai_move</a:t>
            </a:r>
            <a:r>
              <a:rPr lang="en-US" sz="1400" dirty="0">
                <a:latin typeface="Times New Roman" panose="02020603050405020304" pitchFamily="18" charset="0"/>
                <a:cs typeface="Times New Roman" panose="02020603050405020304" pitchFamily="18" charset="0"/>
                <a:sym typeface="+mn-ea"/>
              </a:rPr>
              <a:t>(self):      # AI to play its best move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best_score</a:t>
            </a:r>
            <a:r>
              <a:rPr lang="en-US" sz="1400" dirty="0">
                <a:latin typeface="Times New Roman" panose="02020603050405020304" pitchFamily="18" charset="0"/>
                <a:cs typeface="Times New Roman" panose="02020603050405020304" pitchFamily="18" charset="0"/>
                <a:sym typeface="+mn-ea"/>
              </a:rPr>
              <a:t> = -float('</a:t>
            </a:r>
            <a:r>
              <a:rPr lang="en-US" sz="1400" dirty="0" err="1">
                <a:latin typeface="Times New Roman" panose="02020603050405020304" pitchFamily="18" charset="0"/>
                <a:cs typeface="Times New Roman" panose="02020603050405020304" pitchFamily="18" charset="0"/>
                <a:sym typeface="+mn-ea"/>
              </a:rPr>
              <a:t>inf</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best_move</a:t>
            </a:r>
            <a:r>
              <a:rPr lang="en-US" sz="1400" dirty="0">
                <a:latin typeface="Times New Roman" panose="02020603050405020304" pitchFamily="18" charset="0"/>
                <a:cs typeface="Times New Roman" panose="02020603050405020304" pitchFamily="18" charset="0"/>
                <a:sym typeface="+mn-ea"/>
              </a:rPr>
              <a:t> = None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for (row, </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in </a:t>
            </a:r>
            <a:r>
              <a:rPr lang="en-US" sz="1400" dirty="0" err="1">
                <a:latin typeface="Times New Roman" panose="02020603050405020304" pitchFamily="18" charset="0"/>
                <a:cs typeface="Times New Roman" panose="02020603050405020304" pitchFamily="18" charset="0"/>
                <a:sym typeface="+mn-ea"/>
              </a:rPr>
              <a:t>self.get_empty_spots</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self.board</a:t>
            </a:r>
            <a:r>
              <a:rPr lang="en-US" sz="1400" dirty="0">
                <a:latin typeface="Times New Roman" panose="02020603050405020304" pitchFamily="18" charset="0"/>
                <a:cs typeface="Times New Roman" panose="02020603050405020304" pitchFamily="18" charset="0"/>
                <a:sym typeface="+mn-ea"/>
              </a:rPr>
              <a:t>[row][</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a:t>
            </a:r>
            <a:r>
              <a:rPr lang="en-US" sz="1400" dirty="0" err="1">
                <a:latin typeface="Times New Roman" panose="02020603050405020304" pitchFamily="18" charset="0"/>
                <a:cs typeface="Times New Roman" panose="02020603050405020304" pitchFamily="18" charset="0"/>
                <a:sym typeface="+mn-ea"/>
              </a:rPr>
              <a:t>self.ai_player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score = </a:t>
            </a:r>
            <a:r>
              <a:rPr lang="en-US" sz="1400" dirty="0" err="1">
                <a:latin typeface="Times New Roman" panose="02020603050405020304" pitchFamily="18" charset="0"/>
                <a:cs typeface="Times New Roman" panose="02020603050405020304" pitchFamily="18" charset="0"/>
                <a:sym typeface="+mn-ea"/>
              </a:rPr>
              <a:t>self.minimax</a:t>
            </a:r>
            <a:r>
              <a:rPr lang="en-US" sz="1400" dirty="0">
                <a:latin typeface="Times New Roman" panose="02020603050405020304" pitchFamily="18" charset="0"/>
                <a:cs typeface="Times New Roman" panose="02020603050405020304" pitchFamily="18" charset="0"/>
                <a:sym typeface="+mn-ea"/>
              </a:rPr>
              <a:t>(False)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self.board</a:t>
            </a:r>
            <a:r>
              <a:rPr lang="en-US" sz="1400" dirty="0">
                <a:latin typeface="Times New Roman" panose="02020603050405020304" pitchFamily="18" charset="0"/>
                <a:cs typeface="Times New Roman" panose="02020603050405020304" pitchFamily="18" charset="0"/>
                <a:sym typeface="+mn-ea"/>
              </a:rPr>
              <a:t>[row][</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a:t>
            </a:r>
            <a:endParaRPr lang="en-US" sz="14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cs typeface="Times New Roman" panose="02020603050405020304" pitchFamily="18" charset="0"/>
                <a:sym typeface="+mn-ea"/>
              </a:rPr>
              <a:t>            </a:t>
            </a:r>
            <a:endParaRPr lang="en-US" sz="1200" dirty="0"/>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sz="half" idx="2"/>
          </p:nvPr>
        </p:nvSpPr>
        <p:spPr>
          <a:xfrm>
            <a:off x="5781675" y="566530"/>
            <a:ext cx="5897245" cy="6291471"/>
          </a:xfrm>
        </p:spPr>
        <p:txBody>
          <a:bodyPr>
            <a:noAutofit/>
          </a:bodyPr>
          <a:lstStyle/>
          <a:p>
            <a:pPr marL="0" indent="0">
              <a:buNone/>
            </a:pPr>
            <a:r>
              <a:rPr lang="en-US" sz="1200" dirty="0">
                <a:latin typeface="Times New Roman" panose="02020603050405020304" pitchFamily="18" charset="0"/>
                <a:cs typeface="Times New Roman" panose="02020603050405020304" pitchFamily="18" charset="0"/>
                <a:sym typeface="+mn-ea"/>
              </a:rPr>
              <a:t>            </a:t>
            </a:r>
          </a:p>
          <a:p>
            <a:pPr marL="0" indent="0">
              <a:buNone/>
            </a:pPr>
            <a:r>
              <a:rPr lang="en-IN" sz="2000" dirty="0">
                <a:latin typeface="Times New Roman" panose="02020603050405020304" pitchFamily="18" charset="0"/>
                <a:cs typeface="Times New Roman" panose="02020603050405020304" pitchFamily="18" charset="0"/>
                <a:sym typeface="+mn-ea"/>
              </a:rPr>
              <a:t>//AI WINS</a:t>
            </a: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IN" sz="1200" dirty="0">
              <a:latin typeface="Times New Roman" panose="02020603050405020304" pitchFamily="18" charset="0"/>
              <a:cs typeface="Times New Roman" panose="02020603050405020304" pitchFamily="18" charset="0"/>
              <a:sym typeface="+mn-ea"/>
            </a:endParaRPr>
          </a:p>
          <a:p>
            <a:pPr marL="0" indent="0">
              <a:buNone/>
            </a:pPr>
            <a:endParaRPr lang="en-US" sz="1200" dirty="0"/>
          </a:p>
        </p:txBody>
      </p:sp>
      <p:pic>
        <p:nvPicPr>
          <p:cNvPr id="5" name="Picture 4" descr="2.jpg"/>
          <p:cNvPicPr/>
          <p:nvPr/>
        </p:nvPicPr>
        <p:blipFill>
          <a:blip r:embed="rId3"/>
          <a:stretch>
            <a:fillRect/>
          </a:stretch>
        </p:blipFill>
        <p:spPr>
          <a:xfrm>
            <a:off x="5834269" y="4094921"/>
            <a:ext cx="5874027" cy="2564295"/>
          </a:xfrm>
          <a:prstGeom prst="rect">
            <a:avLst/>
          </a:prstGeom>
        </p:spPr>
      </p:pic>
      <p:pic>
        <p:nvPicPr>
          <p:cNvPr id="7" name="Content Placeholder 4" descr="1.jpg"/>
          <p:cNvPicPr>
            <a:picLocks/>
          </p:cNvPicPr>
          <p:nvPr/>
        </p:nvPicPr>
        <p:blipFill>
          <a:blip r:embed="rId4"/>
          <a:stretch>
            <a:fillRect/>
          </a:stretch>
        </p:blipFill>
        <p:spPr>
          <a:xfrm>
            <a:off x="5834271" y="1351722"/>
            <a:ext cx="5854906" cy="244502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55983"/>
            <a:ext cx="10972800" cy="606288"/>
          </a:xfrm>
        </p:spPr>
        <p:txBody>
          <a:bodyPr>
            <a:normAutofit/>
          </a:bodyPr>
          <a:lstStyle/>
          <a:p>
            <a:pPr algn="l"/>
            <a:r>
              <a:rPr lang="en-US" sz="2400" b="1" dirty="0">
                <a:solidFill>
                  <a:srgbClr val="FF0000"/>
                </a:solidFill>
                <a:latin typeface="Times New Roman" panose="02020603050405020304" pitchFamily="18" charset="0"/>
                <a:cs typeface="Times New Roman" panose="02020603050405020304" pitchFamily="18" charset="0"/>
              </a:rPr>
              <a:t>Cont.</a:t>
            </a:r>
          </a:p>
        </p:txBody>
      </p:sp>
      <p:sp>
        <p:nvSpPr>
          <p:cNvPr id="3" name="Content Placeholder 2"/>
          <p:cNvSpPr>
            <a:spLocks noGrp="1"/>
          </p:cNvSpPr>
          <p:nvPr>
            <p:ph sz="half" idx="1"/>
          </p:nvPr>
        </p:nvSpPr>
        <p:spPr>
          <a:xfrm>
            <a:off x="609600" y="1262380"/>
            <a:ext cx="6169025" cy="5377180"/>
          </a:xfrm>
        </p:spPr>
        <p:txBody>
          <a:bodyPr>
            <a:noAutofit/>
          </a:bodyPr>
          <a:lstStyle/>
          <a:p>
            <a:pPr marL="0" indent="0">
              <a:buNone/>
            </a:pPr>
            <a:r>
              <a:rPr lang="en-US" sz="1400" dirty="0">
                <a:latin typeface="Times New Roman" panose="02020603050405020304" pitchFamily="18" charset="0"/>
                <a:cs typeface="Times New Roman" panose="02020603050405020304" pitchFamily="18" charset="0"/>
                <a:sym typeface="+mn-ea"/>
              </a:rPr>
              <a:t>best_score = score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best_move = (row, col)</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if best_move: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row, col = best_move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self.fix_spot(row, col, self.ai_player)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print(f"AI ({self.ai_player}) played at position ({row + 1}, {col + 1})")</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def start(self):</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self.create_board()</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 Randomly decide who goes first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player = 'X' if self.get_random_first_player() == 1 else 'O'</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while True: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self.show_board()</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if player == 'X':  # User's turn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print(f"Player {player}'s turn")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 Taking user input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row, col = list(map(int, input("Enter row and column numbers to fix spot (1-3 each):").split()))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 Validating the move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if self.board[row - 1][col - 1] !=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print("This spot is already taken. Try again.")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a:t>
            </a:r>
            <a:endParaRPr lang="en-US" sz="1400" dirty="0">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sz="half" idx="2"/>
          </p:nvPr>
        </p:nvSpPr>
        <p:spPr>
          <a:xfrm>
            <a:off x="6197600" y="1053548"/>
            <a:ext cx="5384800" cy="5301377"/>
          </a:xfrm>
        </p:spPr>
        <p:txBody>
          <a:bodyPr/>
          <a:lstStyle/>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55983"/>
            <a:ext cx="10972800" cy="616226"/>
          </a:xfrm>
        </p:spPr>
        <p:txBody>
          <a:bodyPr>
            <a:normAutofit/>
          </a:bodyPr>
          <a:lstStyle/>
          <a:p>
            <a:pPr algn="l"/>
            <a:r>
              <a:rPr lang="en-US" sz="2400" b="1" dirty="0">
                <a:solidFill>
                  <a:srgbClr val="FF0000"/>
                </a:solidFill>
                <a:latin typeface="Times New Roman" panose="02020603050405020304" pitchFamily="18" charset="0"/>
                <a:cs typeface="Times New Roman" panose="02020603050405020304" pitchFamily="18" charset="0"/>
              </a:rPr>
              <a:t>Cont.                                                                    </a:t>
            </a:r>
            <a:r>
              <a:rPr lang="en-US" sz="2000" dirty="0">
                <a:solidFill>
                  <a:schemeClr val="tx1"/>
                </a:solidFill>
                <a:latin typeface="Times New Roman" panose="02020603050405020304" pitchFamily="18" charset="0"/>
                <a:cs typeface="Times New Roman" panose="02020603050405020304" pitchFamily="18" charset="0"/>
              </a:rPr>
              <a:t>//DRAW</a:t>
            </a:r>
          </a:p>
        </p:txBody>
      </p:sp>
      <p:sp>
        <p:nvSpPr>
          <p:cNvPr id="3" name="Content Placeholder 2"/>
          <p:cNvSpPr>
            <a:spLocks noGrp="1"/>
          </p:cNvSpPr>
          <p:nvPr>
            <p:ph sz="half" idx="1"/>
          </p:nvPr>
        </p:nvSpPr>
        <p:spPr>
          <a:xfrm>
            <a:off x="609601" y="1262380"/>
            <a:ext cx="5015948" cy="5377180"/>
          </a:xfrm>
        </p:spPr>
        <p:txBody>
          <a:bodyPr>
            <a:noAutofit/>
          </a:bodyPr>
          <a:lstStyle/>
          <a:p>
            <a:pPr marL="0" indent="0">
              <a:buNone/>
            </a:pPr>
            <a:r>
              <a:rPr lang="en-US" sz="1400" dirty="0">
                <a:latin typeface="Times New Roman" panose="02020603050405020304" pitchFamily="18" charset="0"/>
                <a:cs typeface="Times New Roman" panose="02020603050405020304" pitchFamily="18" charset="0"/>
                <a:sym typeface="+mn-ea"/>
              </a:rPr>
              <a:t>continue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self.fix_spot</a:t>
            </a:r>
            <a:r>
              <a:rPr lang="en-US" sz="1400" dirty="0">
                <a:latin typeface="Times New Roman" panose="02020603050405020304" pitchFamily="18" charset="0"/>
                <a:cs typeface="Times New Roman" panose="02020603050405020304" pitchFamily="18" charset="0"/>
                <a:sym typeface="+mn-ea"/>
              </a:rPr>
              <a:t>(row - 1, </a:t>
            </a:r>
            <a:r>
              <a:rPr lang="en-US" sz="1400" dirty="0" err="1">
                <a:latin typeface="Times New Roman" panose="02020603050405020304" pitchFamily="18" charset="0"/>
                <a:cs typeface="Times New Roman" panose="02020603050405020304" pitchFamily="18" charset="0"/>
                <a:sym typeface="+mn-ea"/>
              </a:rPr>
              <a:t>col</a:t>
            </a:r>
            <a:r>
              <a:rPr lang="en-US" sz="1400" dirty="0">
                <a:latin typeface="Times New Roman" panose="02020603050405020304" pitchFamily="18" charset="0"/>
                <a:cs typeface="Times New Roman" panose="02020603050405020304" pitchFamily="18" charset="0"/>
                <a:sym typeface="+mn-ea"/>
              </a:rPr>
              <a:t> - 1, 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else:  # AI's turn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a:t>
            </a:r>
            <a:r>
              <a:rPr lang="en-US" sz="1400" dirty="0" err="1">
                <a:latin typeface="Times New Roman" panose="02020603050405020304" pitchFamily="18" charset="0"/>
                <a:cs typeface="Times New Roman" panose="02020603050405020304" pitchFamily="18" charset="0"/>
                <a:sym typeface="+mn-ea"/>
              </a:rPr>
              <a:t>f"AI's</a:t>
            </a:r>
            <a:r>
              <a:rPr lang="en-US" sz="1400" dirty="0">
                <a:latin typeface="Times New Roman" panose="02020603050405020304" pitchFamily="18" charset="0"/>
                <a:cs typeface="Times New Roman" panose="02020603050405020304" pitchFamily="18" charset="0"/>
                <a:sym typeface="+mn-ea"/>
              </a:rPr>
              <a:t> turn (Player {player})")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self.ai_move</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 Check if the current player won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if </a:t>
            </a:r>
            <a:r>
              <a:rPr lang="en-US" sz="1400" dirty="0" err="1">
                <a:latin typeface="Times New Roman" panose="02020603050405020304" pitchFamily="18" charset="0"/>
                <a:cs typeface="Times New Roman" panose="02020603050405020304" pitchFamily="18" charset="0"/>
                <a:sym typeface="+mn-ea"/>
              </a:rPr>
              <a:t>self.is_player_win</a:t>
            </a:r>
            <a:r>
              <a:rPr lang="en-US" sz="1400" dirty="0">
                <a:latin typeface="Times New Roman" panose="02020603050405020304" pitchFamily="18" charset="0"/>
                <a:cs typeface="Times New Roman" panose="02020603050405020304" pitchFamily="18" charset="0"/>
                <a:sym typeface="+mn-ea"/>
              </a:rPr>
              <a:t>(player):</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self.show_board</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a:t>
            </a:r>
            <a:r>
              <a:rPr lang="en-US" sz="1400" dirty="0" err="1">
                <a:latin typeface="Times New Roman" panose="02020603050405020304" pitchFamily="18" charset="0"/>
                <a:cs typeface="Times New Roman" panose="02020603050405020304" pitchFamily="18" charset="0"/>
                <a:sym typeface="+mn-ea"/>
              </a:rPr>
              <a:t>f"Player</a:t>
            </a:r>
            <a:r>
              <a:rPr lang="en-US" sz="1400" dirty="0">
                <a:latin typeface="Times New Roman" panose="02020603050405020304" pitchFamily="18" charset="0"/>
                <a:cs typeface="Times New Roman" panose="02020603050405020304" pitchFamily="18" charset="0"/>
                <a:sym typeface="+mn-ea"/>
              </a:rPr>
              <a:t> {player} wins the game!")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break</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if </a:t>
            </a:r>
            <a:r>
              <a:rPr lang="en-US" sz="1400" dirty="0" err="1">
                <a:latin typeface="Times New Roman" panose="02020603050405020304" pitchFamily="18" charset="0"/>
                <a:cs typeface="Times New Roman" panose="02020603050405020304" pitchFamily="18" charset="0"/>
                <a:sym typeface="+mn-ea"/>
              </a:rPr>
              <a:t>self.is_board_filled</a:t>
            </a:r>
            <a:r>
              <a:rPr lang="en-US" sz="1400" dirty="0">
                <a:latin typeface="Times New Roman" panose="02020603050405020304" pitchFamily="18" charset="0"/>
                <a:cs typeface="Times New Roman" panose="02020603050405020304" pitchFamily="18" charset="0"/>
                <a:sym typeface="+mn-ea"/>
              </a:rPr>
              <a:t>():       # Check if the game is a draw</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self.show_board</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print("Match Draw!")</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break</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Swap the turn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player = </a:t>
            </a:r>
            <a:r>
              <a:rPr lang="en-US" sz="1400" dirty="0" err="1">
                <a:latin typeface="Times New Roman" panose="02020603050405020304" pitchFamily="18" charset="0"/>
                <a:cs typeface="Times New Roman" panose="02020603050405020304" pitchFamily="18" charset="0"/>
                <a:sym typeface="+mn-ea"/>
              </a:rPr>
              <a:t>self.swap_player_turn</a:t>
            </a:r>
            <a:r>
              <a:rPr lang="en-US" sz="1400" dirty="0">
                <a:latin typeface="Times New Roman" panose="02020603050405020304" pitchFamily="18" charset="0"/>
                <a:cs typeface="Times New Roman" panose="02020603050405020304" pitchFamily="18" charset="0"/>
                <a:sym typeface="+mn-ea"/>
              </a:rPr>
              <a:t>(player)   # Swap the turn</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print("\</a:t>
            </a:r>
            <a:r>
              <a:rPr lang="en-US" sz="1400" dirty="0" err="1">
                <a:latin typeface="Times New Roman" panose="02020603050405020304" pitchFamily="18" charset="0"/>
                <a:cs typeface="Times New Roman" panose="02020603050405020304" pitchFamily="18" charset="0"/>
                <a:sym typeface="+mn-ea"/>
              </a:rPr>
              <a:t>nFinal</a:t>
            </a:r>
            <a:r>
              <a:rPr lang="en-US" sz="1400" dirty="0">
                <a:latin typeface="Times New Roman" panose="02020603050405020304" pitchFamily="18" charset="0"/>
                <a:cs typeface="Times New Roman" panose="02020603050405020304" pitchFamily="18" charset="0"/>
                <a:sym typeface="+mn-ea"/>
              </a:rPr>
              <a:t> Board:") # Final board view</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self.show_board</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sym typeface="+mn-ea"/>
              </a:rPr>
              <a:t># Start the game</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tic_tac_toe</a:t>
            </a:r>
            <a:r>
              <a:rPr lang="en-US" sz="1400" dirty="0">
                <a:latin typeface="Times New Roman" panose="02020603050405020304" pitchFamily="18" charset="0"/>
                <a:cs typeface="Times New Roman" panose="02020603050405020304" pitchFamily="18" charset="0"/>
                <a:sym typeface="+mn-ea"/>
              </a:rPr>
              <a:t> = </a:t>
            </a:r>
            <a:r>
              <a:rPr lang="en-US" sz="1400" dirty="0" err="1">
                <a:latin typeface="Times New Roman" panose="02020603050405020304" pitchFamily="18" charset="0"/>
                <a:cs typeface="Times New Roman" panose="02020603050405020304" pitchFamily="18" charset="0"/>
                <a:sym typeface="+mn-ea"/>
              </a:rPr>
              <a:t>TicTacToe</a:t>
            </a:r>
            <a:r>
              <a:rPr lang="en-US" sz="1400" dirty="0">
                <a:latin typeface="Times New Roman" panose="02020603050405020304" pitchFamily="18" charset="0"/>
                <a:cs typeface="Times New Roman" panose="02020603050405020304" pitchFamily="18" charset="0"/>
                <a:sym typeface="+mn-ea"/>
              </a:rPr>
              <a:t>()</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err="1">
                <a:latin typeface="Times New Roman" panose="02020603050405020304" pitchFamily="18" charset="0"/>
                <a:cs typeface="Times New Roman" panose="02020603050405020304" pitchFamily="18" charset="0"/>
                <a:sym typeface="+mn-ea"/>
              </a:rPr>
              <a:t>tic_tac_toe.start</a:t>
            </a:r>
            <a:r>
              <a:rPr lang="en-US" sz="1400" dirty="0">
                <a:latin typeface="Times New Roman" panose="02020603050405020304" pitchFamily="18" charset="0"/>
                <a:cs typeface="Times New Roman" panose="02020603050405020304" pitchFamily="18" charset="0"/>
                <a:sym typeface="+mn-ea"/>
              </a:rPr>
              <a:t>()</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cs typeface="Times New Roman" panose="02020603050405020304" pitchFamily="18" charset="0"/>
                <a:sym typeface="+mn-ea"/>
              </a:rPr>
              <a:t>            </a:t>
            </a:r>
            <a:endParaRPr lang="en-US" sz="1200" dirty="0"/>
          </a:p>
        </p:txBody>
      </p:sp>
      <p:pic>
        <p:nvPicPr>
          <p:cNvPr id="5" name="Content Placeholder 4" descr="3.jpg"/>
          <p:cNvPicPr>
            <a:picLocks noGrp="1"/>
          </p:cNvPicPr>
          <p:nvPr>
            <p:ph sz="half" idx="2"/>
          </p:nvPr>
        </p:nvPicPr>
        <p:blipFill>
          <a:blip r:embed="rId3"/>
          <a:stretch>
            <a:fillRect/>
          </a:stretch>
        </p:blipFill>
        <p:spPr>
          <a:xfrm>
            <a:off x="6132443" y="1391479"/>
            <a:ext cx="5784574" cy="1759226"/>
          </a:xfrm>
          <a:prstGeom prst="rect">
            <a:avLst/>
          </a:prstGeom>
        </p:spPr>
      </p:pic>
      <p:pic>
        <p:nvPicPr>
          <p:cNvPr id="8" name="Picture 7" descr="4.jpg"/>
          <p:cNvPicPr/>
          <p:nvPr/>
        </p:nvPicPr>
        <p:blipFill>
          <a:blip r:embed="rId4"/>
          <a:stretch>
            <a:fillRect/>
          </a:stretch>
        </p:blipFill>
        <p:spPr>
          <a:xfrm>
            <a:off x="6142383" y="3260034"/>
            <a:ext cx="5777243" cy="1600201"/>
          </a:xfrm>
          <a:prstGeom prst="rect">
            <a:avLst/>
          </a:prstGeom>
        </p:spPr>
      </p:pic>
      <p:pic>
        <p:nvPicPr>
          <p:cNvPr id="9" name="Picture 8" descr="5.jpg"/>
          <p:cNvPicPr/>
          <p:nvPr/>
        </p:nvPicPr>
        <p:blipFill>
          <a:blip r:embed="rId5"/>
          <a:stretch>
            <a:fillRect/>
          </a:stretch>
        </p:blipFill>
        <p:spPr>
          <a:xfrm>
            <a:off x="6122504" y="4939748"/>
            <a:ext cx="5844210" cy="178904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104" y="924339"/>
            <a:ext cx="10916477" cy="457200"/>
          </a:xfrm>
        </p:spPr>
        <p:txBody>
          <a:bodyPr>
            <a:noAutofit/>
          </a:bodyPr>
          <a:lstStyle/>
          <a:p>
            <a:pPr algn="l"/>
            <a:r>
              <a:rPr lang="en-US" sz="3200" b="1" dirty="0">
                <a:solidFill>
                  <a:srgbClr val="FF0000"/>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609600" y="1729409"/>
            <a:ext cx="10972800" cy="4770781"/>
          </a:xfrm>
        </p:spPr>
        <p:txBody>
          <a:bodyPr>
            <a:normAutofit/>
          </a:bodyPr>
          <a:lstStyle/>
          <a:p>
            <a:pPr algn="just"/>
            <a:r>
              <a:rPr lang="en-US" sz="2400" dirty="0">
                <a:latin typeface="Times New Roman" pitchFamily="18" charset="0"/>
                <a:cs typeface="Times New Roman" pitchFamily="18" charset="0"/>
              </a:rPr>
              <a:t>The Tic Tac Toe project successfully demonstrates key programming concepts such as game logic, user input handling, and basic AI development for game automation. </a:t>
            </a:r>
          </a:p>
          <a:p>
            <a:pPr algn="just"/>
            <a:r>
              <a:rPr lang="en-US" sz="2400" dirty="0">
                <a:latin typeface="Times New Roman" pitchFamily="18" charset="0"/>
                <a:cs typeface="Times New Roman" pitchFamily="18" charset="0"/>
              </a:rPr>
              <a:t>Through implementing a simple turn-based structure, checking win conditions, and ensuring the game runs smoothly with clear feedback for players, it emphasizes how fundamental principles like loops, conditionals, and arrays work together to create an interactive experience. </a:t>
            </a:r>
          </a:p>
          <a:p>
            <a:pPr algn="just"/>
            <a:r>
              <a:rPr lang="en-US" sz="2400" dirty="0">
                <a:latin typeface="Times New Roman" pitchFamily="18" charset="0"/>
                <a:cs typeface="Times New Roman" pitchFamily="18" charset="0"/>
              </a:rPr>
              <a:t>Whether played by two users or against a basic AI, this project highlights the importance of clean code design and problem-solving in game development</a:t>
            </a:r>
            <a:r>
              <a:rPr lang="en-US" sz="2400"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3191" y="2677885"/>
            <a:ext cx="6435090" cy="1166327"/>
          </a:xfrm>
        </p:spPr>
        <p:txBody>
          <a:bodyPr>
            <a:normAutofit/>
          </a:bodyPr>
          <a:lstStyle/>
          <a:p>
            <a:r>
              <a:rPr lang="en-US" b="1" dirty="0">
                <a:solidFill>
                  <a:srgbClr val="FF0000"/>
                </a:solidFill>
                <a:latin typeface="+mn-lt"/>
              </a:rPr>
              <a:t>      </a:t>
            </a:r>
            <a:r>
              <a:rPr lang="en-US" sz="6000" b="1" dirty="0">
                <a:solidFill>
                  <a:srgbClr val="FF0000"/>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69</TotalTime>
  <Words>2294</Words>
  <Application>Microsoft Office PowerPoint</Application>
  <PresentationFormat>Widescreen</PresentationFormat>
  <Paragraphs>245</Paragraphs>
  <Slides>19</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Constantia</vt:lpstr>
      <vt:lpstr>Times New Roman</vt:lpstr>
      <vt:lpstr>Wingdings 2</vt:lpstr>
      <vt:lpstr>Flow</vt:lpstr>
      <vt:lpstr>PowerPoint Presentation</vt:lpstr>
      <vt:lpstr>PowerPoint Presentation</vt:lpstr>
      <vt:lpstr>TABLE OF CONTENTS:</vt:lpstr>
      <vt:lpstr>INTRODUCTION:</vt:lpstr>
      <vt:lpstr>APPLICATIONS OF ARTIFICIAL INTELLIGENCE:</vt:lpstr>
      <vt:lpstr>AI-DATA UNDERSTANDING:</vt:lpstr>
      <vt:lpstr>AI-BIG DATA:</vt:lpstr>
      <vt:lpstr>MACHINE LEARNING FUNDAMENTALS:</vt:lpstr>
      <vt:lpstr>DEEP LEARNING:</vt:lpstr>
      <vt:lpstr>NATURAL LANGUAGE PROCESSING:</vt:lpstr>
      <vt:lpstr>ANNEXURE:</vt:lpstr>
      <vt:lpstr>CODE:</vt:lpstr>
      <vt:lpstr>Cont.</vt:lpstr>
      <vt:lpstr>Cont.</vt:lpstr>
      <vt:lpstr>Cont.</vt:lpstr>
      <vt:lpstr>Cont.</vt:lpstr>
      <vt:lpstr>Cont.                                                                    //DRAW</vt:lpstr>
      <vt:lpstr>CONCLUSION: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jallajagannadharao@gmail.com</cp:lastModifiedBy>
  <cp:revision>82</cp:revision>
  <dcterms:created xsi:type="dcterms:W3CDTF">2024-10-06T12:56:00Z</dcterms:created>
  <dcterms:modified xsi:type="dcterms:W3CDTF">2025-10-07T16:42:10Z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CA6415C65E6042B29FA9121783E6C068_12</vt:lpwstr>
  </property>
  <property fmtid="{D5CDD505-2E9C-101B-9397-08002B2CF9AE}" pid="3" name="KSOProductBuildVer">
    <vt:lpwstr>1033-12.2.0.18607</vt:lpwstr>
  </property>
</Properties>
</file>